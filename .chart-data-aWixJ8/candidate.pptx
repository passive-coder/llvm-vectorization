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be3b528544df5" /><Relationship Type="http://schemas.openxmlformats.org/officeDocument/2006/relationships/extended-properties" Target="/docProps/app.xml" Id="Rd57cf93281b145dd" /><Relationship Type="http://schemas.openxmlformats.org/officeDocument/2006/relationships/officeDocument" Target="/ppt/presentation.xml" Id="Rc90d1404e577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b4bdc6e1f43c5"/>
  </p:sldMasterIdLst>
  <p:notesMasterIdLst>
    <p:notesMasterId xmlns:r="http://schemas.openxmlformats.org/officeDocument/2006/relationships" r:id="R220232305515427b"/>
  </p:notesMasterIdLst>
  <p:sldIdLst>
    <p:sldId xmlns:r="http://schemas.openxmlformats.org/officeDocument/2006/relationships" id="256" r:id="Raef13bb76cda4642"/>
    <p:sldId xmlns:r="http://schemas.openxmlformats.org/officeDocument/2006/relationships" id="257" r:id="R965c30fa2b08421b"/>
    <p:sldId xmlns:r="http://schemas.openxmlformats.org/officeDocument/2006/relationships" id="258" r:id="Rd393c5ef546c4415"/>
    <p:sldId xmlns:r="http://schemas.openxmlformats.org/officeDocument/2006/relationships" id="259" r:id="Rc50a6e39e6924e46"/>
    <p:sldId xmlns:r="http://schemas.openxmlformats.org/officeDocument/2006/relationships" id="260" r:id="Radce8d4dc455470d"/>
    <p:sldId xmlns:r="http://schemas.openxmlformats.org/officeDocument/2006/relationships" id="261" r:id="R1b1765d7d39b44e4"/>
    <p:sldId xmlns:r="http://schemas.openxmlformats.org/officeDocument/2006/relationships" id="262" r:id="R10550bf968dc4d65"/>
    <p:sldId xmlns:r="http://schemas.openxmlformats.org/officeDocument/2006/relationships" id="263" r:id="Raf6ed2c48a644d52"/>
    <p:sldId xmlns:r="http://schemas.openxmlformats.org/officeDocument/2006/relationships" id="264" r:id="R0a703f5a83e349b0"/>
    <p:sldId xmlns:r="http://schemas.openxmlformats.org/officeDocument/2006/relationships" id="265" r:id="Re191653e2dda43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60a22f7dbb44eb" /><Relationship Type="http://schemas.openxmlformats.org/officeDocument/2006/relationships/slideMaster" Target="/ppt/slideMasters/slideMaster1.xml" Id="Rc62b4bdc6e1f43c5" /><Relationship Type="http://schemas.openxmlformats.org/officeDocument/2006/relationships/notesMaster" Target="/ppt/notesMasters/notesMaster1.xml" Id="R220232305515427b" /><Relationship Type="http://schemas.openxmlformats.org/officeDocument/2006/relationships/presProps" Target="/ppt/presProps.xml" Id="R1b4e25c660ef4249" /><Relationship Type="http://schemas.openxmlformats.org/officeDocument/2006/relationships/tableStyles" Target="/ppt/tableStyles.xml" Id="R96a511f999aa4154" /><Relationship Type="http://schemas.openxmlformats.org/officeDocument/2006/relationships/slide" Target="/ppt/slides/slide1.xml" Id="Raef13bb76cda4642" /><Relationship Type="http://schemas.openxmlformats.org/officeDocument/2006/relationships/slide" Target="/ppt/slides/slide2.xml" Id="R965c30fa2b08421b" /><Relationship Type="http://schemas.openxmlformats.org/officeDocument/2006/relationships/slide" Target="/ppt/slides/slide3.xml" Id="Rd393c5ef546c4415" /><Relationship Type="http://schemas.openxmlformats.org/officeDocument/2006/relationships/slide" Target="/ppt/slides/slide4.xml" Id="Rc50a6e39e6924e46" /><Relationship Type="http://schemas.openxmlformats.org/officeDocument/2006/relationships/slide" Target="/ppt/slides/slide5.xml" Id="Radce8d4dc455470d" /><Relationship Type="http://schemas.openxmlformats.org/officeDocument/2006/relationships/slide" Target="/ppt/slides/slide6.xml" Id="R1b1765d7d39b44e4" /><Relationship Type="http://schemas.openxmlformats.org/officeDocument/2006/relationships/slide" Target="/ppt/slides/slide7.xml" Id="R10550bf968dc4d65" /><Relationship Type="http://schemas.openxmlformats.org/officeDocument/2006/relationships/slide" Target="/ppt/slides/slide8.xml" Id="Raf6ed2c48a644d52" /><Relationship Type="http://schemas.openxmlformats.org/officeDocument/2006/relationships/slide" Target="/ppt/slides/slide9.xml" Id="R0a703f5a83e349b0" /><Relationship Type="http://schemas.openxmlformats.org/officeDocument/2006/relationships/slide" Target="/ppt/slides/slide10.xml" Id="Re191653e2dda43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bafdcd9ca047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3e1f3ac41484f" /><Relationship Type="http://schemas.openxmlformats.org/officeDocument/2006/relationships/notesMaster" Target="/ppt/notesMasters/notesMaster1.xml" Id="R8c8c9518c8dc4c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2b477feb324223" /><Relationship Type="http://schemas.openxmlformats.org/officeDocument/2006/relationships/notesMaster" Target="/ppt/notesMasters/notesMaster1.xml" Id="R064caaed38c446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cf341d944e4ca5" /><Relationship Type="http://schemas.openxmlformats.org/officeDocument/2006/relationships/notesMaster" Target="/ppt/notesMasters/notesMaster1.xml" Id="R035f389c38474e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ca16cfe2b4150" /><Relationship Type="http://schemas.openxmlformats.org/officeDocument/2006/relationships/notesMaster" Target="/ppt/notesMasters/notesMaster1.xml" Id="Ra3bbcc9427014c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55cdbeac0494b" /><Relationship Type="http://schemas.openxmlformats.org/officeDocument/2006/relationships/notesMaster" Target="/ppt/notesMasters/notesMaster1.xml" Id="R85c20905ebb249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ca31e178cd4672" /><Relationship Type="http://schemas.openxmlformats.org/officeDocument/2006/relationships/notesMaster" Target="/ppt/notesMasters/notesMaster1.xml" Id="R5f5546fd6eab42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1849b3b047458f" /><Relationship Type="http://schemas.openxmlformats.org/officeDocument/2006/relationships/notesMaster" Target="/ppt/notesMasters/notesMaster1.xml" Id="Rb88fb3b822084d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fe087fcd6a4b94" /><Relationship Type="http://schemas.openxmlformats.org/officeDocument/2006/relationships/notesMaster" Target="/ppt/notesMasters/notesMaster1.xml" Id="R2561c659c77049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4a3f7d160145ab" /><Relationship Type="http://schemas.openxmlformats.org/officeDocument/2006/relationships/notesMaster" Target="/ppt/notesMasters/notesMaster1.xml" Id="Rc0941b19a83b48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db647f82b84139" /><Relationship Type="http://schemas.openxmlformats.org/officeDocument/2006/relationships/notesMaster" Target="/ppt/notesMasters/notesMaster1.xml" Id="Ra8ba4fd45d584b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README.md and docs/architecture.md. The visual is conceptual and contains no factual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The high-level arrows show hybrid flow; LLVM-only mode bypasses the Rust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sections 4 and 5. The image is conceptual; the textual list defines actual pass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Target register width is queried through LLVM TargetTransformInfo when the module has a triple; otherwise the planner uses 128 bits.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Project directories and languages; docs/advanced-cli-spec.md. Frontend availability and LLVM IR compatibility vary by installed compiler.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Build-aware and advanced project runs. Reductions, runtime pointer checks, and multi-block predication in hybrid/LLVM modes are LLVM transformations, not Rust-pass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docs/advanced-cli-spec.md. --fail-on-missed measures Rust-engine rejections only. Cache reuse is limited to inputs with accounted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docs/benchmark-results.json (generated 2026-09-07) and scripts/differential_test.py quick run. Benchmark: seven kernels, Apple M5, LLVM 21.1.3, cache-hot measurements. Rust pass geometric mean 3.008593× and LLVM 2.973528× versus scalar. The speedup difference is small and not a general claim of superiority.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README.md. The future items are not implemented by the Rust pass. LLVM-backed modes may vectorize some of those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4ef9bba6948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edfb9763147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76c7e98b443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1f1abf40f46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40291055441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05fd804144c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FFA791-19AF-471A-85D4-1E1D8A854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43AAF8-F652-4B49-86A4-631D1684D2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26BB4B-DBFA-4813-A329-223ADDD55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D3BC79-BCFA-4F68-B060-49A722136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BFBE0D-6394-4973-AC96-1A4285DED4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6606CE-2B78-4E89-81D7-CA6FC66A7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01F916-A555-490C-926A-ADB66D358B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775ACD-E5DD-4556-92EF-F2106367E6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210D5F-EFDA-4F5C-AF4D-0D3F8E6DB5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F6063F-8E42-4655-AD3E-7FD07902C1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39847538d14aa6" /><Relationship Type="http://schemas.openxmlformats.org/officeDocument/2006/relationships/slideLayout" Target="/ppt/slideLayouts/slideLayout1.xml" Id="R48979de3fda44e26" /><Relationship Type="http://schemas.openxmlformats.org/officeDocument/2006/relationships/slideLayout" Target="/ppt/slideLayouts/slideLayout2.xml" Id="Rf23ceda714e04b76" /><Relationship Type="http://schemas.openxmlformats.org/officeDocument/2006/relationships/slideLayout" Target="/ppt/slideLayouts/slideLayout3.xml" Id="R41f9225b53ac4b9d" /><Relationship Type="http://schemas.openxmlformats.org/officeDocument/2006/relationships/slideLayout" Target="/ppt/slideLayouts/slideLayout4.xml" Id="Rd1acf5e0dd8b4af8" /><Relationship Type="http://schemas.openxmlformats.org/officeDocument/2006/relationships/slideLayout" Target="/ppt/slideLayouts/slideLayout5.xml" Id="R1273ad78f3204d3e" /><Relationship Type="http://schemas.openxmlformats.org/officeDocument/2006/relationships/slideLayout" Target="/ppt/slideLayouts/slideLayout6.xml" Id="Rcb9d7ed7e162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979de3fda44e26"/>
    <p:sldLayoutId xmlns:r="http://schemas.openxmlformats.org/officeDocument/2006/relationships" id="2147483650" r:id="Rf23ceda714e04b76"/>
    <p:sldLayoutId xmlns:r="http://schemas.openxmlformats.org/officeDocument/2006/relationships" id="2147483651" r:id="R41f9225b53ac4b9d"/>
    <p:sldLayoutId xmlns:r="http://schemas.openxmlformats.org/officeDocument/2006/relationships" id="2147483652" r:id="Rd1acf5e0dd8b4af8"/>
    <p:sldLayoutId xmlns:r="http://schemas.openxmlformats.org/officeDocument/2006/relationships" id="2147483653" r:id="R1273ad78f3204d3e"/>
    <p:sldLayoutId xmlns:r="http://schemas.openxmlformats.org/officeDocument/2006/relationships" id="2147483654" r:id="Rcb9d7ed7e162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86b6b3b9448f7" /><Relationship Type="http://schemas.openxmlformats.org/officeDocument/2006/relationships/image" Target="/ppt/media/image.png" Id="R6b13cd4074fe4339" /><Relationship Type="http://schemas.openxmlformats.org/officeDocument/2006/relationships/notesSlide" Target="/ppt/notesSlides/notesSlide1.xml" Id="R581c57b4a28f4c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69567711147d8" /><Relationship Type="http://schemas.openxmlformats.org/officeDocument/2006/relationships/image" Target="/ppt/media/image2.png" Id="Rc43f97d9f5284c5b" /><Relationship Type="http://schemas.openxmlformats.org/officeDocument/2006/relationships/notesSlide" Target="/ppt/notesSlides/notesSlide2.xml" Id="Re30a1ea3eceb47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bf567093d4479" /><Relationship Type="http://schemas.openxmlformats.org/officeDocument/2006/relationships/notesSlide" Target="/ppt/notesSlides/notesSlide3.xml" Id="Re45bbed9647045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0f4617c11462d" /><Relationship Type="http://schemas.openxmlformats.org/officeDocument/2006/relationships/image" Target="/ppt/media/image3.png" Id="R690d3b01f0714a4f" /><Relationship Type="http://schemas.openxmlformats.org/officeDocument/2006/relationships/notesSlide" Target="/ppt/notesSlides/notesSlide4.xml" Id="Rbba48a39d978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ac81361484684" /><Relationship Type="http://schemas.openxmlformats.org/officeDocument/2006/relationships/notesSlide" Target="/ppt/notesSlides/notesSlide5.xml" Id="R6f5f8ee6009541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9937331c04932" /><Relationship Type="http://schemas.openxmlformats.org/officeDocument/2006/relationships/image" Target="/ppt/media/image4.png" Id="Re8bed933a9584180" /><Relationship Type="http://schemas.openxmlformats.org/officeDocument/2006/relationships/notesSlide" Target="/ppt/notesSlides/notesSlide6.xml" Id="R9aa82121afd146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1d9d03bcf4f50" /><Relationship Type="http://schemas.openxmlformats.org/officeDocument/2006/relationships/notesSlide" Target="/ppt/notesSlides/notesSlide7.xml" Id="R90c9dbe2130c46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98c297b4e49ed" /><Relationship Type="http://schemas.openxmlformats.org/officeDocument/2006/relationships/notesSlide" Target="/ppt/notesSlides/notesSlide8.xml" Id="R7a463a21f7bc4a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aaa31233e437a" /><Relationship Type="http://schemas.openxmlformats.org/officeDocument/2006/relationships/chart" Target="/ppt/slides/charts/chart1.xml" Id="Rbdf230848cab4add" /><Relationship Type="http://schemas.openxmlformats.org/officeDocument/2006/relationships/notesSlide" Target="/ppt/notesSlides/notesSlide9.xml" Id="Ra61387e317c540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8a652c3e24377" /><Relationship Type="http://schemas.openxmlformats.org/officeDocument/2006/relationships/notesSlide" Target="/ppt/notesSlides/notesSlide10.xml" Id="R275db21f77334a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Geometric mean speedup</c:v>
          </c:tx>
          <c:spPr>
            <a:solidFill xmlns:a="http://schemas.openxmlformats.org/drawingml/2006/main">
              <a:srgbClr val="4CD4C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CD4C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4E56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Rust pass</c:v>
                </c:pt>
                <c:pt idx="1">
                  <c:v>LLVM Loop Vectorizer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3.009</c:v>
                </c:pt>
                <c:pt idx="1">
                  <c:v>2.974</c:v>
                </c:pt>
              </c:numCache>
            </c:numRef>
          </c:val>
        </c:ser>
        <c:dLbls>
          <c:numFmt formatCode="0.00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5F8F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3505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D1DADD"/>
                    </a:solidFill>
                    <a:latin typeface="Arial"/>
                    <a:ea typeface="Arial"/>
                    <a:cs typeface="Arial"/>
                  </a:rPr>
                  <a:t>Speedup vs scalar (×)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D1DAD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24282E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24282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FBB2D-95A9-48BD-AC2E-9C855D5B68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3cd4074fe433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886DD-FB8B-4044-905C-DBF9CFAF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65246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Loop Vectorizer</a:t>
            </a:r>
          </a:p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for LLVM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47116-EB2C-4E9B-9BDF-3398A591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592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BF8"/>
                </a:solidFill>
                <a:latin typeface="Arial"/>
                <a:ea typeface="Arial"/>
                <a:cs typeface="Arial"/>
              </a:rPr>
              <a:t>A correctness-first compiler pass and project vectorization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BD43C-BC8C-4BB2-ADC2-468F2452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714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E5924-9266-4C04-8516-4C203B1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 ·  LLVM 21 plugin  ·  project-scale tooling</a:t>
            </a:r>
          </a:p>
        </p:txBody>
      </p:sp>
    </p:spTree>
    <p:extLst>
      <p:ext uri="{BB962C8B-B14F-4D97-AF65-F5344CB8AC3E}">
        <p14:creationId xmlns:p14="http://schemas.microsoft.com/office/powerpoint/2010/main" val="1144660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510EC-395A-46DD-9D26-625EC13B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Why loop vectorization is hard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63B7D-1C48-4156-A871-3CD82BC1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0E0B3-1259-4AB0-8C57-694EA22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EEA1A-A2E1-4A4C-94E9-EFDA35AA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B11A0-3217-419E-8B7B-A2E3D9EA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62A07-56DA-4451-99F1-F067D97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4310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loops process one element at a time, even when a CPU can run several lanes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4A476-C064-4801-A3D0-0056CB4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5C4FE-1F1B-45F8-859F-D347B23B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compiler must prove that grouping iterations preserves control flow and memory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0916A-A8B9-4105-BC3E-CD2BADC0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8FE21-71D9-42A4-A13F-00AA75C5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This project favors safe transformations and explains every rejection.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D0A2C-AD15-48D4-A59B-8A76F57C79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f97d9f5284c5b"/>
          <a:stretch xmlns:a="http://schemas.openxmlformats.org/drawingml/2006/main"/>
        </p:blipFill>
        <p:spPr>
          <a:xfrm xmlns:a="http://schemas.openxmlformats.org/drawingml/2006/main">
            <a:off x="6934200" y="1533525"/>
            <a:ext cx="4572000" cy="42195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4F1A9-0207-4886-9992-E9788A89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483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Sequential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F1734-56B6-4E04-A41A-A09A034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483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Parallel lanes</a:t>
            </a:r>
          </a:p>
        </p:txBody>
      </p:sp>
    </p:spTree>
    <p:extLst>
      <p:ext uri="{BB962C8B-B14F-4D97-AF65-F5344CB8AC3E}">
        <p14:creationId xmlns:p14="http://schemas.microsoft.com/office/powerpoint/2010/main" val="1014251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B2F96-93FB-4DF3-B81F-B5CEC8B3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AD171-4A8E-4A29-B4F2-B6EC0C42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2F443-DD08-4F53-B9BB-1FC23B6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4248F-4AD0-4DC8-BA60-DE3B1F7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A9C9E-79DE-40F7-A10C-DD433E2B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FCBA5-0CF6-4E4A-A415-259462B9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70102-7F7C-48F1-A45D-770E08F9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Source files, build metadata, .ll or .bc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DC2A6-18EB-4370-B643-DA74CA6C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CA497-BA6E-4FF8-AE39-2D955DC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A5DD8-3D35-4611-AFB5-AB2F434D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frontend emits IR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FA9B5-8834-4380-99D4-7EF84156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7D9ED-7F3E-4C01-9F18-B031CC8E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6F928-E255-4479-9F84-7A520022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Discover, prove legal, plan, 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0D4F0-6764-431B-956C-8BE33CA2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29867-3C8F-4719-8752-8EDCAC77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16033-5A34-48DD-A63E-A6FBD9A4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Optional in hybrid or LLVM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CDAAA-4946-492F-BCFC-52542EB6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562DA-A58E-4220-98F6-7AC9D5C9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Verify + emit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D4B4F-B8A9-466F-A692-6AB1ED71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Checked .ll, .bc or .o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7C633-04F9-4A02-AA04-66B90FC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B2B57-7807-44E3-988E-74CC63AB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E3C95-02F3-4A83-89FA-100BFEC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0B903-21A8-4CC6-82DA-6257CEA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ABD2A-2033-41D0-9A22-F8C69DA0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66926-0A1B-487D-970F-1539B35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C++ bridge registers the plugin with LLVM’s New Pass Manager. The LLVM-only mode skips the Rust pass.</a:t>
            </a:r>
          </a:p>
        </p:txBody>
      </p:sp>
    </p:spTree>
    <p:extLst>
      <p:ext uri="{BB962C8B-B14F-4D97-AF65-F5344CB8AC3E}">
        <p14:creationId xmlns:p14="http://schemas.microsoft.com/office/powerpoint/2010/main" val="1481157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DC546-C1D2-4802-9269-F4F6F68E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What the Rust pass vectorizes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1AAD7-C187-46F2-9C82-D1E04C51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D9CEA-CEBE-48DE-AC7A-AC05C9E8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5A845-07FF-439E-AFE8-937BFC7B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7C76D-DAF6-417A-BF67-92884518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6E014-7B61-4164-B9CD-6F1B439E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7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Canonical, single-block count-up loops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81E64-3EFD-4438-A53A-E3C96678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DD44C-FD6F-4DCE-8FAA-1CD96F7B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Contiguous loads and stores of integers, half, float, and double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9DAD7-C93B-445C-8F9B-8C5A42EF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DCE9C-2065-4543-A8EE-7EE93AF4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Arithmetic, shifts, casts, comparisons, and select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30462-9B96-4F87-BA37-F1B48C5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D8800-499E-447F-A06E-B91C477F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Vector factors 2, 4, 8, or 16 after legality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D8A2D-5279-4F67-AC6D-2430CE35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7D698-9E64-454C-8461-FA040FE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547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fallback for short trips and remainder elements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947EB-EA87-4CAA-AE79-F9FD9F1AA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d3b01f0714a4f"/>
          <a:stretch xmlns:a="http://schemas.openxmlformats.org/drawingml/2006/main"/>
        </p:blipFill>
        <p:spPr>
          <a:xfrm xmlns:a="http://schemas.openxmlformats.org/drawingml/2006/main">
            <a:off x="6667500" y="1619250"/>
            <a:ext cx="48387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72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522C0-1580-4887-999C-114E6B65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Safety and vectorization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CD476-A49A-4CBB-B2AC-5DE50AF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E5EDB-2124-4016-875D-F89E9FE9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B323C-C685-45BF-9A27-3D22A031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6BE54-EEEE-4C50-9AFD-7F6EE5F6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C751B-C9B9-44BB-9391-DFEB3C67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AC62F-7F3C-4B96-8321-4197415B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Find a canonical loop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FB255-B04A-4C65-BFD1-65D9E375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A4FF5-1D94-4497-BF32-9B6BA47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Prove legal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B8046-3BA7-4ECC-BDE5-043605EA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 dataflow, memory, aliasing and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10428-FCA3-437C-80E4-CB455E91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A5991-0077-49DE-9436-544496D8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Estimate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99BB3-5801-4B98-A3FA-6818AD3C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Select a profitable vector width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24C42-98C3-469D-B9C5-F8A96D44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CA869-FF69-4CE1-83FC-452E5468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F5E88-432F-4438-8290-720CB306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Emit vectors and keep scalar 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63A8E-612C-4B0B-AF36-35679762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D2083-A201-4ACD-A2E9-F0621376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8A7A2-8CFF-4C20-A9DC-DADF9C4D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9CC4B-2C3C-4E34-9C81-F57062B4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B731F-1A7D-4EDD-9A4D-39082DB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EFDE4-0054-4469-86EA-5FC5DB4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Uncertain aliasing, unsupported instructions, or incompatible target layout cause rejection.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692D7-0110-4A63-A717-5B9B976B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Planning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D541C-F217-44BA-A4E8-3B0A70FA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Conservative, balanced, and aggressive policies. Forced width never bypasses legality.</a:t>
            </a:r>
          </a:p>
        </p:txBody>
      </p:sp>
    </p:spTree>
    <p:extLst>
      <p:ext uri="{BB962C8B-B14F-4D97-AF65-F5344CB8AC3E}">
        <p14:creationId xmlns:p14="http://schemas.microsoft.com/office/powerpoint/2010/main" val="131753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EA750-A4C7-4784-91F1-CE1216E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Whole-project and language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5DE95-E1BB-4E2A-8F97-D8898B82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FFECE-4DCB-45A3-8010-6084088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F6179-1B17-4AD3-B3AC-2E17EC91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2B1C2-60BC-4F4A-AF57-AA2215D6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8A923-76EE-45DD-86E0-36F67350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95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Recursive folder traversal with mirrored output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CAEF3-AFE7-49AA-873A-C95EAA49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AE03C-07AD-4205-A838-1FB80A0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5495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Built-in adapters: C, C++, Objective-C, Objective-C++, Fortran, Rust, Swift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E613D-486C-4C34-84DB-6F82EAF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D317D-AE83-48C5-B3BA-A1712B1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86175"/>
            <a:ext cx="5495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--compile-commands preserves C-family build flags and working directories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69A92-F233-4F84-96B3-F6D86EC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73007-8180-43BA-878D-F451A93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29150"/>
            <a:ext cx="549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--input-manifest or --frontend-config integrates other LLVM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B6FC3-1B14-4291-B251-3977A322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3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Requires LLVM 21-compatible IR or bitcode.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95F5B-19B3-44CE-878A-1D7B6118FE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ed933a9584180"/>
          <a:stretch xmlns:a="http://schemas.openxmlformats.org/drawingml/2006/main"/>
        </p:blipFill>
        <p:spPr>
          <a:xfrm xmlns:a="http://schemas.openxmlformats.org/drawingml/2006/main">
            <a:off x="6667500" y="1504950"/>
            <a:ext cx="48387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6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C1F36-5EB0-45B0-AB14-6A9FB870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Engines and output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1B3BD-05A9-40EA-B131-C7EEAB5D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E4139-3A4B-4D4F-8A6D-B48ED21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D3643-DC3F-4D34-9F0D-854878ED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DD74B-2A3B-4CD4-B398-35671668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A28E9-EB46-4E72-B4A1-0DB658BE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11DA9-9AB0-4E8A-BE64-C8EED7ED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project’s conservative pass. It reports its own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0FCDE-9623-4D15-BEC4-667D237E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7FF0A-634D-4703-8AF7-204D5501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9B793-8167-41D5-97DA-F9A94897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followed by LLVM’s Loop Vectorizer for broader LLVM-supported loops.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62D63-A56D-4550-BA5E-DD9EF9CB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5740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LLVM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23A91-02CC-4412-9E12-250C25F0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14625"/>
            <a:ext cx="323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8D13D-664B-45EC-A90A-1C6967BC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289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LLVM’s Loop Vectorizer alone. The Rust pass does not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CFD6D-E60B-4FD2-9E61-D2602AFE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672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99D57-304A-4E6E-9298-6E426B0D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1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90499-470D-4F14-91CD-3357102E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.ll  readable 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657AE-6618-417D-8240-C8C0D00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.bc  bitcode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9B62E-69E6-45DD-BC8A-06D97EB3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.o  linkable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BBD4D-5873-4B21-8EB7-65E13A3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531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Target triple, CPU, and feature flags configure planning and object emission.</a:t>
            </a:r>
          </a:p>
        </p:txBody>
      </p:sp>
    </p:spTree>
    <p:extLst>
      <p:ext uri="{BB962C8B-B14F-4D97-AF65-F5344CB8AC3E}">
        <p14:creationId xmlns:p14="http://schemas.microsoft.com/office/powerpoint/2010/main" val="784042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3FF62-BC30-4C1F-88E5-AC9EA440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Developer workflow and large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6CC2A-1E48-4ECB-A0A9-EEA0EB51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82817-FBC3-4782-8130-5D60804C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48413-F671-4CEC-A399-79F16183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0409C-6E98-46AD-B8CC-9D6E1632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Inspect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C1E89-2C57-4259-9B51-BC93C5B3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63217-D181-4A35-A00C-3408B92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90775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Text and JSON reports show file status and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4DB6F-AF40-4290-80FB-A626F01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3062E-250F-4D58-A2BF-C6F20A35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--doctor checks tools, plugin loading, and optional frontends.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B9416-A939-4B57-8719-CEBAC990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94E77-BDE4-4375-848F-0CDAE278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4686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terminal UI exposes paths, policy, width, and a results pane.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3B432-386F-493C-8ADD-11295269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335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A573C-721A-4467-90DE-A94580DB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Run at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B5070-B207-45F2-BE84-B31F551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D8EA0-3CB2-4FA1-9A29-058AA60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90775"/>
            <a:ext cx="4800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--jobs runs modules concurrently; --cache-dir reuses verified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4F698-E581-4DE9-ADAB-C958A079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5661F-6106-4859-A892-FCBCB532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0995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Time, memory, and input-size limits bound each job.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5E0FA-E2D2-4F4C-9D4E-CBCFF7DD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6C7AB-4D61-4B99-9DEE-AAA25994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33875"/>
            <a:ext cx="480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CI gates missed loops and compares baseline/candidate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67F78-274F-44A6-BF22-A3B648F0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8A050-26BC-4C85-9B94-D09BA7D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4E56D"/>
                </a:solidFill>
                <a:latin typeface="Arial"/>
                <a:ea typeface="Arial"/>
                <a:cs typeface="Arial"/>
              </a:rPr>
              <a:t>Atomic writes preserve earlier outputs when compilation or verification fails.</a:t>
            </a:r>
          </a:p>
        </p:txBody>
      </p:sp>
    </p:spTree>
    <p:extLst>
      <p:ext uri="{BB962C8B-B14F-4D97-AF65-F5344CB8AC3E}">
        <p14:creationId xmlns:p14="http://schemas.microsoft.com/office/powerpoint/2010/main" val="1605040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0CA8C-8614-482E-B574-5E23E02F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Verification and 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5D077-EE18-4A6A-88D0-C23CF431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E202B-C8DB-42A6-AF99-2E398362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A6CE7-EFCE-4BF2-9A58-7A1AB5C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DD21E-D8A0-4ED0-B5A9-3DF6290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Local seven-kernel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6DA21-1603-46E9-9E7E-EF77AD7B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71725"/>
            <a:ext cx="4552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All scalar, Rust-pass, and LLVM variants passed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FEBEC-E15B-4E55-A833-0083F130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8CB69-F99A-43E8-B236-0BDF48A8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cloned loops transformed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E1ED3-242C-4C65-A1EE-7605C630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2.355 µs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AF2F0-6551-432E-914D-70213BC1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95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median in-pass analysis + 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DF7F3-D9E0-4448-BAEB-7636D104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Quick differential suite: 8,192 executions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F74C4BBA-4921-4D47-AE03-EC77D08A0498}"/>
              </a:ext>
            </a:extLst>
          </p:cNvPr>
          <p:cNvGraphicFramePr/>
          <p:nvPr/>
        </p:nvGraphicFramePr>
        <p:xfrm>
          <a:off xmlns:a="http://schemas.openxmlformats.org/drawingml/2006/main" x="5572125" y="1828800"/>
          <a:ext xmlns:a="http://schemas.openxmlformats.org/drawingml/2006/main" cx="592455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f230848cab4add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5CE05-D9C1-43F4-B458-58D371D1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15000"/>
            <a:ext cx="586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Apple M5, LLVM 21.1.3, cache-hot kernels. These are local results, not application-wide speedups.</a:t>
            </a:r>
          </a:p>
        </p:txBody>
      </p:sp>
    </p:spTree>
    <p:extLst>
      <p:ext uri="{BB962C8B-B14F-4D97-AF65-F5344CB8AC3E}">
        <p14:creationId xmlns:p14="http://schemas.microsoft.com/office/powerpoint/2010/main" val="24106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8DF8C-42B7-4F86-9BE6-7FC10AB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Scope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89897-86F3-475E-945C-70AC77A9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68E3A-040A-4C8A-A88C-4F9A08AE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84F06-CA27-401B-B822-CA9F288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23211-3307-4F2C-99FA-31A36845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 pass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8007C-D7B9-4AF2-B1C1-FF9365A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90CAE-A4EF-44E4-9F06-5E23E8E7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Real fixed-width vector IR and explainable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E648F-12E1-437B-B7A6-5F484FF7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364CC-4361-42B8-A94C-9AAFFAF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73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bounded single-block loop legality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0DBBC-FE2A-4EAE-8AF7-5FB89D28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2AECD-56AB-43F8-AFB7-FCA71D55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Unsupported loops stay scalar in Rust-only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06616-A8B8-424B-8783-14166C9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7820F-1F50-47BE-BDFD-DCFAD5A6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Future Rust-pass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605EF-C205-4821-B426-D1837532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570E7-44CC-462E-A067-43428A26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47925"/>
            <a:ext cx="4733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Richer target throughput and register-pressure costing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F7F36-0A32-4DC2-B1A7-1FAE8379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AFBE5-C18D-46C9-A827-2FB1E6FD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52800"/>
            <a:ext cx="4733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Scalable vectors, masked tails, and interleaving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6A857-9553-4A57-8A10-33C15E6E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FE3FD-95AE-407A-9142-0B84EE0E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19575"/>
            <a:ext cx="4733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Legality proofs for reductions and multi-block loops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F4919-0123-4497-BF08-AD45E9E3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81650"/>
            <a:ext cx="1081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D56B7-8E37-4376-B53A-2B38A790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9120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 mode delegates broader loop shapes to LLVM’s production vectorizer.</a:t>
            </a:r>
          </a:p>
        </p:txBody>
      </p:sp>
    </p:spTree>
    <p:extLst>
      <p:ext uri="{BB962C8B-B14F-4D97-AF65-F5344CB8AC3E}">
        <p14:creationId xmlns:p14="http://schemas.microsoft.com/office/powerpoint/2010/main" val="1611567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2026-10-14T11:15:50.9750000Z</dcterms:created>
  <dcterms:modified xsi:type="dcterms:W3CDTF">2026-10-14T11:15:50.9750000Z</dcterms:modified>
</coreProperties>
</file>