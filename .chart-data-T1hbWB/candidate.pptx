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d381ef72af4a1f" /><Relationship Type="http://schemas.openxmlformats.org/officeDocument/2006/relationships/extended-properties" Target="/docProps/app.xml" Id="Re23aa2d11d5e49ff" /><Relationship Type="http://schemas.openxmlformats.org/officeDocument/2006/relationships/officeDocument" Target="/ppt/presentation.xml" Id="Rb33bd9043a35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7aa51767444590"/>
  </p:sldMasterIdLst>
  <p:notesMasterIdLst>
    <p:notesMasterId xmlns:r="http://schemas.openxmlformats.org/officeDocument/2006/relationships" r:id="R482257e08b494996"/>
  </p:notesMasterIdLst>
  <p:sldIdLst>
    <p:sldId xmlns:r="http://schemas.openxmlformats.org/officeDocument/2006/relationships" id="256" r:id="R5503eb63e56b45eb"/>
    <p:sldId xmlns:r="http://schemas.openxmlformats.org/officeDocument/2006/relationships" id="257" r:id="R95eed04c67e24316"/>
    <p:sldId xmlns:r="http://schemas.openxmlformats.org/officeDocument/2006/relationships" id="258" r:id="Rd203e673f8604273"/>
    <p:sldId xmlns:r="http://schemas.openxmlformats.org/officeDocument/2006/relationships" id="259" r:id="R0b34af7409bc4dfa"/>
    <p:sldId xmlns:r="http://schemas.openxmlformats.org/officeDocument/2006/relationships" id="260" r:id="R229b66c103864330"/>
    <p:sldId xmlns:r="http://schemas.openxmlformats.org/officeDocument/2006/relationships" id="261" r:id="R9ce584b9ec8949f3"/>
    <p:sldId xmlns:r="http://schemas.openxmlformats.org/officeDocument/2006/relationships" id="262" r:id="Raadd9532d1444568"/>
    <p:sldId xmlns:r="http://schemas.openxmlformats.org/officeDocument/2006/relationships" id="263" r:id="R1df4ab46e36a471c"/>
    <p:sldId xmlns:r="http://schemas.openxmlformats.org/officeDocument/2006/relationships" id="264" r:id="Ra35533c234df478b"/>
    <p:sldId xmlns:r="http://schemas.openxmlformats.org/officeDocument/2006/relationships" id="265" r:id="R6ff217ed36d04f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9ace9e4a104272" /><Relationship Type="http://schemas.openxmlformats.org/officeDocument/2006/relationships/slideMaster" Target="/ppt/slideMasters/slideMaster1.xml" Id="Rf47aa51767444590" /><Relationship Type="http://schemas.openxmlformats.org/officeDocument/2006/relationships/notesMaster" Target="/ppt/notesMasters/notesMaster1.xml" Id="R482257e08b494996" /><Relationship Type="http://schemas.openxmlformats.org/officeDocument/2006/relationships/presProps" Target="/ppt/presProps.xml" Id="R88668cfa8c314547" /><Relationship Type="http://schemas.openxmlformats.org/officeDocument/2006/relationships/tableStyles" Target="/ppt/tableStyles.xml" Id="Rb5fe5005214b40c4" /><Relationship Type="http://schemas.openxmlformats.org/officeDocument/2006/relationships/slide" Target="/ppt/slides/slide1.xml" Id="R5503eb63e56b45eb" /><Relationship Type="http://schemas.openxmlformats.org/officeDocument/2006/relationships/slide" Target="/ppt/slides/slide2.xml" Id="R95eed04c67e24316" /><Relationship Type="http://schemas.openxmlformats.org/officeDocument/2006/relationships/slide" Target="/ppt/slides/slide3.xml" Id="Rd203e673f8604273" /><Relationship Type="http://schemas.openxmlformats.org/officeDocument/2006/relationships/slide" Target="/ppt/slides/slide4.xml" Id="R0b34af7409bc4dfa" /><Relationship Type="http://schemas.openxmlformats.org/officeDocument/2006/relationships/slide" Target="/ppt/slides/slide5.xml" Id="R229b66c103864330" /><Relationship Type="http://schemas.openxmlformats.org/officeDocument/2006/relationships/slide" Target="/ppt/slides/slide6.xml" Id="R9ce584b9ec8949f3" /><Relationship Type="http://schemas.openxmlformats.org/officeDocument/2006/relationships/slide" Target="/ppt/slides/slide7.xml" Id="Raadd9532d1444568" /><Relationship Type="http://schemas.openxmlformats.org/officeDocument/2006/relationships/slide" Target="/ppt/slides/slide8.xml" Id="R1df4ab46e36a471c" /><Relationship Type="http://schemas.openxmlformats.org/officeDocument/2006/relationships/slide" Target="/ppt/slides/slide9.xml" Id="Ra35533c234df478b" /><Relationship Type="http://schemas.openxmlformats.org/officeDocument/2006/relationships/slide" Target="/ppt/slides/slide10.xml" Id="R6ff217ed36d04f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7ada8fb1a4a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63c9b7cfa644ec" /><Relationship Type="http://schemas.openxmlformats.org/officeDocument/2006/relationships/notesMaster" Target="/ppt/notesMasters/notesMaster1.xml" Id="R352608b4759643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cc90b744d74e3c" /><Relationship Type="http://schemas.openxmlformats.org/officeDocument/2006/relationships/notesMaster" Target="/ppt/notesMasters/notesMaster1.xml" Id="R96268cb88782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5c033bfcc84220" /><Relationship Type="http://schemas.openxmlformats.org/officeDocument/2006/relationships/notesMaster" Target="/ppt/notesMasters/notesMaster1.xml" Id="R89f34c0e3c0746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1b9b79c06a4f09" /><Relationship Type="http://schemas.openxmlformats.org/officeDocument/2006/relationships/notesMaster" Target="/ppt/notesMasters/notesMaster1.xml" Id="Rff458f02c47b4d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c65cb0c6ff4613" /><Relationship Type="http://schemas.openxmlformats.org/officeDocument/2006/relationships/notesMaster" Target="/ppt/notesMasters/notesMaster1.xml" Id="R9e6f296fb28944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eddaa7344c44e7" /><Relationship Type="http://schemas.openxmlformats.org/officeDocument/2006/relationships/notesMaster" Target="/ppt/notesMasters/notesMaster1.xml" Id="R3e663ec6564448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310af8ff1040dc" /><Relationship Type="http://schemas.openxmlformats.org/officeDocument/2006/relationships/notesMaster" Target="/ppt/notesMasters/notesMaster1.xml" Id="Rea4e9a37863d41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38e9dc7d3a4827" /><Relationship Type="http://schemas.openxmlformats.org/officeDocument/2006/relationships/notesMaster" Target="/ppt/notesMasters/notesMaster1.xml" Id="Rb0b9217821074d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9b48c019734620" /><Relationship Type="http://schemas.openxmlformats.org/officeDocument/2006/relationships/notesMaster" Target="/ppt/notesMasters/notesMaster1.xml" Id="R92a7707ab4fc41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33c0a508654d8d" /><Relationship Type="http://schemas.openxmlformats.org/officeDocument/2006/relationships/notesMaster" Target="/ppt/notesMasters/notesMaster1.xml" Id="Rffafdfedc48a44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README.md and docs/architecture.md. The visual is conceptual and contains no factual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The high-level arrows show hybrid flow; LLVM-only mode bypasses the Rust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sections 4 and 5. The image is conceptual; the textual list defines actual pass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Target register width is queried through LLVM TargetTransformInfo when the module has a triple; otherwise the planner uses 128 bits.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Project directories and languages; docs/advanced-cli-spec.md. Frontend availability and LLVM IR compatibility vary by installed compiler.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Build-aware and advanced project runs. Reductions, runtime pointer checks, and multi-block predication in hybrid/LLVM modes are LLVM transformations, not Rust-pass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docs/advanced-cli-spec.md. --fail-on-missed measures Rust-engine rejections only. Cache reuse is limited to inputs with accounted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docs/benchmark-results.json (generated 2026-09-07) and scripts/differential_test.py quick run. Benchmark: seven kernels, Apple M5, LLVM 21.1.3, cache-hot measurements. Rust pass geometric mean 3.008593× and LLVM 2.973528× versus scalar. The speedup difference is small and not a general claim of superiority.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 and README.md. The future items are not implemented by the Rust pass. LLVM-backed modes may vectorize some of those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a4a0d280543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fb3522a1d4e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2990f0cbd49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33c65a4d541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5090a024444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52a2e9f5f4d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CEBA6D-6EA9-4456-B937-3BA13D939F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76C276-7C7D-4C62-B59F-7D35A0E013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09F7BF-96DB-4277-91B4-F14EF665D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72E35-B7CD-4893-AE4F-E8C0A8768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2C5A79-2287-43B9-BF23-F458435614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5E1C33-8D3A-475F-8A38-080AC8CEA1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CE6066-4D9C-451D-939A-B37B061588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CDF232-AA98-46A4-91F4-7989AFD41F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77C59-3E9C-4057-9071-7B04DB632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90CC73-4A30-4CB5-BE0C-A1248B301C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08c60b90a04ac4" /><Relationship Type="http://schemas.openxmlformats.org/officeDocument/2006/relationships/slideLayout" Target="/ppt/slideLayouts/slideLayout1.xml" Id="R0f81e0edaffc46fb" /><Relationship Type="http://schemas.openxmlformats.org/officeDocument/2006/relationships/slideLayout" Target="/ppt/slideLayouts/slideLayout2.xml" Id="R818e5e2643934fa0" /><Relationship Type="http://schemas.openxmlformats.org/officeDocument/2006/relationships/slideLayout" Target="/ppt/slideLayouts/slideLayout3.xml" Id="R468325345ad84254" /><Relationship Type="http://schemas.openxmlformats.org/officeDocument/2006/relationships/slideLayout" Target="/ppt/slideLayouts/slideLayout4.xml" Id="Ra4542511ab12433a" /><Relationship Type="http://schemas.openxmlformats.org/officeDocument/2006/relationships/slideLayout" Target="/ppt/slideLayouts/slideLayout5.xml" Id="Raf6b29f505d04441" /><Relationship Type="http://schemas.openxmlformats.org/officeDocument/2006/relationships/slideLayout" Target="/ppt/slideLayouts/slideLayout6.xml" Id="R0795f0e21c9a4f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81e0edaffc46fb"/>
    <p:sldLayoutId xmlns:r="http://schemas.openxmlformats.org/officeDocument/2006/relationships" id="2147483650" r:id="R818e5e2643934fa0"/>
    <p:sldLayoutId xmlns:r="http://schemas.openxmlformats.org/officeDocument/2006/relationships" id="2147483651" r:id="R468325345ad84254"/>
    <p:sldLayoutId xmlns:r="http://schemas.openxmlformats.org/officeDocument/2006/relationships" id="2147483652" r:id="Ra4542511ab12433a"/>
    <p:sldLayoutId xmlns:r="http://schemas.openxmlformats.org/officeDocument/2006/relationships" id="2147483653" r:id="Raf6b29f505d04441"/>
    <p:sldLayoutId xmlns:r="http://schemas.openxmlformats.org/officeDocument/2006/relationships" id="2147483654" r:id="R0795f0e21c9a4f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f9df5040f45c5" /><Relationship Type="http://schemas.openxmlformats.org/officeDocument/2006/relationships/image" Target="/ppt/media/image.png" Id="R14baa881e9f94687" /><Relationship Type="http://schemas.openxmlformats.org/officeDocument/2006/relationships/notesSlide" Target="/ppt/notesSlides/notesSlide1.xml" Id="Rc13a4536eb2844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ce8d0a08547fa" /><Relationship Type="http://schemas.openxmlformats.org/officeDocument/2006/relationships/image" Target="/ppt/media/image2.png" Id="R49a3c8bd38d24d19" /><Relationship Type="http://schemas.openxmlformats.org/officeDocument/2006/relationships/notesSlide" Target="/ppt/notesSlides/notesSlide2.xml" Id="Rbe5f9d7cc47a4b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dde5eab884c72" /><Relationship Type="http://schemas.openxmlformats.org/officeDocument/2006/relationships/notesSlide" Target="/ppt/notesSlides/notesSlide3.xml" Id="Rf2401265876b41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efbb9858547c1" /><Relationship Type="http://schemas.openxmlformats.org/officeDocument/2006/relationships/image" Target="/ppt/media/image3.png" Id="R8c962faa61b54827" /><Relationship Type="http://schemas.openxmlformats.org/officeDocument/2006/relationships/notesSlide" Target="/ppt/notesSlides/notesSlide4.xml" Id="R4bc8ca2813584f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3bb28d8514727" /><Relationship Type="http://schemas.openxmlformats.org/officeDocument/2006/relationships/notesSlide" Target="/ppt/notesSlides/notesSlide5.xml" Id="R6da3cbbf5ce14d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6ccc2c5574a1c" /><Relationship Type="http://schemas.openxmlformats.org/officeDocument/2006/relationships/image" Target="/ppt/media/image4.png" Id="Rec5278fd8c2f41c0" /><Relationship Type="http://schemas.openxmlformats.org/officeDocument/2006/relationships/notesSlide" Target="/ppt/notesSlides/notesSlide6.xml" Id="R374a75125db142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5409dce25487f" /><Relationship Type="http://schemas.openxmlformats.org/officeDocument/2006/relationships/notesSlide" Target="/ppt/notesSlides/notesSlide7.xml" Id="R066b3121c7f242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438faa41c4220" /><Relationship Type="http://schemas.openxmlformats.org/officeDocument/2006/relationships/notesSlide" Target="/ppt/notesSlides/notesSlide8.xml" Id="R2c45db53b50247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68a9f2cf2400a" /><Relationship Type="http://schemas.openxmlformats.org/officeDocument/2006/relationships/chart" Target="/ppt/slides/charts/chart1.xml" Id="Rc7c7d55615e641ab" /><Relationship Type="http://schemas.openxmlformats.org/officeDocument/2006/relationships/notesSlide" Target="/ppt/notesSlides/notesSlide9.xml" Id="R8a4f548a631642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d8d5445824db5" /><Relationship Type="http://schemas.openxmlformats.org/officeDocument/2006/relationships/notesSlide" Target="/ppt/notesSlides/notesSlide10.xml" Id="R958df231cb98492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Geometric mean speedup</c:v>
          </c:tx>
          <c:spPr>
            <a:solidFill xmlns:a="http://schemas.openxmlformats.org/drawingml/2006/main">
              <a:srgbClr val="4CD4C9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CD4C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4E56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Rust pass</c:v>
                </c:pt>
                <c:pt idx="1">
                  <c:v>LLVM Loop Vectorizer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3.009</c:v>
                </c:pt>
                <c:pt idx="1">
                  <c:v>2.974</c:v>
                </c:pt>
              </c:numCache>
            </c:numRef>
          </c:val>
        </c:ser>
        <c:dLbls>
          <c:numFmt formatCode="0.00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5F8F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3505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D1DADD"/>
                    </a:solidFill>
                    <a:latin typeface="Arial"/>
                    <a:ea typeface="Arial"/>
                    <a:cs typeface="Arial"/>
                  </a:rPr>
                  <a:t>Speedup vs scalar (×)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D1DAD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4B596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24282E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24282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D3185-E1FF-497D-B02D-4549C27CE1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aa881e9f946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F7349-2885-45FC-B315-8D827807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65246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Loop Vectorizer</a:t>
            </a:r>
          </a:p>
          <a:p xmlns:a="http://schemas.openxmlformats.org/drawingml/2006/main">
            <a:pPr algn="l">
              <a:defRPr sz="4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for LLVM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C5B24-3516-47DD-9EEF-37A099D4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592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8FB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8FBF8"/>
                </a:solidFill>
                <a:latin typeface="Arial"/>
                <a:ea typeface="Arial"/>
                <a:cs typeface="Arial"/>
              </a:rPr>
              <a:t>A correctness-first compiler pass and project vectorization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175A3-9B15-4CB6-8C2C-9FEA6681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714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F4ECF-8F67-4CBC-8DE4-ADD814A8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 ·  LLVM 21 plugin  ·  project-scale tooling</a:t>
            </a:r>
          </a:p>
        </p:txBody>
      </p:sp>
    </p:spTree>
    <p:extLst>
      <p:ext uri="{BB962C8B-B14F-4D97-AF65-F5344CB8AC3E}">
        <p14:creationId xmlns:p14="http://schemas.microsoft.com/office/powerpoint/2010/main" val="1573973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0D63D-529B-4C98-8257-9B82E00C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Why loop vectorization is hard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02084-EB6E-4D43-9AB3-C3D06121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AD76B-C839-4A7B-8A85-388C0150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8823E-C8DA-4310-8BE7-EA7B814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13A87-7A6E-4F82-A3E0-86F3E04E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CE65C-1745-45AB-9CE9-9846E0CB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4310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loops process one element at a time, even when a CPU can run several lanes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B7869-6FED-4BD3-B3C8-1B3CF55A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22ED1-63E6-4629-9230-F0DF0679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compiler must prove that grouping iterations preserves control flow and memory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947BB-62A7-47F3-B5E6-4085F972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FB5BC-0A33-4C26-B774-D07F68D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5543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This project favors safe transformations and explains every rejection.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02D49-D307-4445-BF3C-3C0A3A6F4C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3c8bd38d24d19"/>
          <a:srcRect xmlns:a="http://schemas.openxmlformats.org/drawingml/2006/main" l="0" t="3854" r="0" b="38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533525"/>
            <a:ext cx="4572000" cy="42195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B7700-324C-4851-9CAA-7F483175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483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Sequential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604AB-CC7E-4712-9763-2583021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483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Parallel lanes</a:t>
            </a:r>
          </a:p>
        </p:txBody>
      </p:sp>
    </p:spTree>
    <p:extLst>
      <p:ext uri="{BB962C8B-B14F-4D97-AF65-F5344CB8AC3E}">
        <p14:creationId xmlns:p14="http://schemas.microsoft.com/office/powerpoint/2010/main" val="2143217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8CBAB-DD74-40B1-948D-B760ADC6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C5CB5-E209-4307-919A-E4A396DC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70EA1-E0AA-486D-B076-82A12C51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05E97-F88A-4CE6-AC00-A257C6AE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0C469-19A9-4E1E-9D1A-B01BD5B9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C328-2D49-4F41-B350-DEEA20C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710FD-373A-4C92-B11B-981B444B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Source files, build metadata, .ll or .bc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46DC4-6203-4B3A-B1F0-20A45688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8DF4B-BFAD-4E54-A75A-06D1E43D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4EE5A-060B-47EE-9A4B-5F12CC15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frontend emits IR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32022-03D8-4730-8D9E-B8F0E5D4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0784B-D88C-4DE8-8106-2DEBFB5A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Rust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E0215-A2AB-4E4E-B0EB-2523DC59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Discover, prove legal, plan, 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9154C-372A-4893-9772-F04AA863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11A8D-C096-4B80-B391-D421F355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LLVM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A8BDC-08FA-464C-AABF-AC8F3B0C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Optional in hybrid or LLVM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6A1A4-D29E-434E-B48F-27879CA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1885950" cy="1952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D7FF4-23D5-48DD-B470-1335C243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Verify + emit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EF9B7-F30F-4961-AD64-2991A3EB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90825"/>
            <a:ext cx="1524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Checked .ll, .bc or .o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BD8ED-15C1-46DF-B001-55D5E2A2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C4214-824C-45F9-870F-E9F455D8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0C527-F68E-40FC-88FA-24DBFE4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BD7CD-AC2B-4834-ADEC-602A8134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19425"/>
            <a:ext cx="285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DEF9C-E4BF-438D-A4CC-73D0F208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47CB4-93D5-408D-BB35-11646EF7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C++ bridge registers the plugin with LLVM’s New Pass Manager. The LLVM-only mode skips the Rust pass.</a:t>
            </a:r>
          </a:p>
        </p:txBody>
      </p:sp>
    </p:spTree>
    <p:extLst>
      <p:ext uri="{BB962C8B-B14F-4D97-AF65-F5344CB8AC3E}">
        <p14:creationId xmlns:p14="http://schemas.microsoft.com/office/powerpoint/2010/main" val="669105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9F58B-83FF-4EA1-87F3-698FAC89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What the Rust pass vectorizes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19A48-7AEA-432C-BAD8-F50FBC42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A4A48-7C17-4F3B-B7F6-ABA3831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10839-DEDD-46BA-B8C9-67144475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3B3E9-9F64-4E4C-9A2D-35FBA445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B3B30-7FE6-41C2-8841-3AA9A48D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7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Canonical, single-block count-up loops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6AE0D-9C82-4A98-849C-832F724C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911CE-FF0A-4C8C-BDF4-3781DF5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Contiguous loads and stores of integers, half, float, and double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345F0-EDB9-41CC-B71C-BE87B397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963A9-7C2C-4B07-B7BF-921ACB63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Arithmetic, shifts, casts, comparisons, and select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1E574-2BC5-454B-A87A-53B64B26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59A53-ED5D-4192-AA2C-AAD54CAA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547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Vector factors 2, 4, 8, or 16 after legality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8EB9D-1EC4-4131-8DF0-EEA456D0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AC4E7-2687-465C-8623-B6F35F30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547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Scalar fallback for short trips and remainder elements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BFACC-2A66-4E67-8BA4-860E2D53A9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62faa61b54827"/>
          <a:srcRect xmlns:a="http://schemas.openxmlformats.org/drawingml/2006/main" l="18233" t="0" r="182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19250"/>
            <a:ext cx="48387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65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F3BCA-6637-45D5-8A2B-24B02176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Safety and vectorization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FF525-2187-4285-B3F9-B8E2E1A0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F3E1A-31BC-4814-9038-607AFEDF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4F323-B196-4FDE-B9A1-2C8AE182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C130E-06E4-428E-B8F2-6FBDD57D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E24B8-D3AA-45AA-ACDD-F71C740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6DC29-B635-4957-BDC6-7C1129C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Find a canonical loop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47097-885B-4B29-B4DA-55BBA04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52480-7D50-4216-A327-541BC4FB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Prove legal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283AE-523C-4B08-824E-825B0B86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Check dataflow, memory, aliasing and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00C56-9E07-44A2-A666-741C16D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E8A4C-24E2-4B33-9D5A-6060C6C2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Estimate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AC8EF-2A14-45EF-91B4-544C2BDF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Select a profitable vector width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4F170-B4EE-400C-9A0A-2F86D78E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2333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9242D"/>
          </a:solidFill>
          <a:ln xmlns:a="http://schemas.openxmlformats.org/drawingml/2006/main" w="14288">
            <a:solidFill>
              <a:srgbClr val="4B59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9F99C-C627-4C42-BAFC-EAF53BEE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050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BD66F-4864-4F33-A59A-8F82DF25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1971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Emit vectors and keep scalar 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CC2E1-5C23-4D81-A13B-3D3D0E67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8B89D-EAA4-47A4-A19C-61971E10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76939-E704-4013-9F34-D1374A50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9875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E6DED-0922-4F52-9624-5FBC9E8B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BC924-AEDC-4B80-8046-DF33DE33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B9BE87-0F5D-45C9-A98C-FBAC01B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Uncertain aliasing, unsupported instructions, or incompatible target layout cause rejection.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71851-4764-4C6F-B03E-26FED5E0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Planning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01532-7C17-4D27-894E-EBBEF6A4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Conservative, balanced, and aggressive policies. Forced width never bypasses legality.</a:t>
            </a:r>
          </a:p>
        </p:txBody>
      </p:sp>
    </p:spTree>
    <p:extLst>
      <p:ext uri="{BB962C8B-B14F-4D97-AF65-F5344CB8AC3E}">
        <p14:creationId xmlns:p14="http://schemas.microsoft.com/office/powerpoint/2010/main" val="347599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7608C-5A98-46BC-B0CA-4F4543CC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Whole-project and language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2F559-307F-4FDA-94C7-FAA4543B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789AF-4AE9-41E6-8228-2AD51444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2E3F8-3B7A-4106-B49C-65853965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FB00C-8E87-42DF-976C-849EFB80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2E746-7B98-4BCF-9028-E81EE962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495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Recursive folder traversal with mirrored output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CA3A0-0989-4085-AFFE-F81F1ECA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5672-EBD9-4802-B4BC-F890FCD0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5495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Built-in adapters: C, C++, Objective-C, Objective-C++, Fortran, Rust, Swift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5109C-D7FA-43DA-98CE-41B29A82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34CCE-44BA-4C78-861A-D9484634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86175"/>
            <a:ext cx="5495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--compile-commands preserves C-family build flags and working directories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28247-1302-4249-B97F-47457D5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F1641-C91B-4C53-AAEC-DA57F915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29150"/>
            <a:ext cx="5495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--input-manifest or --frontend-config integrates other LLVM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0EAC7-4F65-43C3-9D22-E78284F7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3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Requires LLVM 21-compatible IR or bitcode.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E8BDA-DCBB-4129-99E2-FE6827713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278fd8c2f41c0"/>
          <a:srcRect xmlns:a="http://schemas.openxmlformats.org/drawingml/2006/main" l="14276" t="0" r="142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504950"/>
            <a:ext cx="48387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45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1602A-6913-4007-BD70-58493FEB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Engines and output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ABC3F-8285-4506-B578-7C57036D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2B26A-E62F-477B-92F0-1E2CC7CC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DBB04-14B5-4987-A95B-EE7C70B3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52CF1-579E-45E2-8045-EFD734F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D21EA-EF49-4150-B1A3-45F68BE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84187-80BD-45E4-8C03-8F60FA1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project’s conservative pass. It reports its own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FA85D-260C-4A06-8A5B-A448F6BB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33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EE06B-A4DB-4E4D-8854-399380E2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9DC5A-400A-48F1-B9E2-994E9B5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333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Rust pass followed by LLVM’s Loop Vectorizer for broader LLVM-supported loops.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56ADA-94C5-4B4D-B320-984C6860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57400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LLVM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655CC-A4EE-4BE6-89A5-D358756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14625"/>
            <a:ext cx="323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0D491-3088-4F26-94C7-5E562E91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289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LLVM’s Loop Vectorizer alone. The Rust pass does not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946DE-2F71-48BF-9746-257B1F68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67275"/>
            <a:ext cx="10801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56C08-FE29-4713-A36F-ABE771E9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1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FC788-C922-41D7-92AF-FCF3B209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.ll  readable 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E2344-7C6D-4002-B004-93680911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43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.bc  bitcode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6AF2E-2E9E-4C7A-AEDC-F1844BC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.o  linkable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3A689-9EAD-47CE-88F1-D7C339A1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531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Target triple, CPU, and feature flags configure planning and object emission.</a:t>
            </a:r>
          </a:p>
        </p:txBody>
      </p:sp>
    </p:spTree>
    <p:extLst>
      <p:ext uri="{BB962C8B-B14F-4D97-AF65-F5344CB8AC3E}">
        <p14:creationId xmlns:p14="http://schemas.microsoft.com/office/powerpoint/2010/main" val="13074237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23CCA-D2EC-4A4D-9CB1-4C07070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Developer workflow and large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9C87C-0EFA-4607-BC2A-FBBBBC82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F696B-6C5D-4F63-BC60-C6B45E10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9227B-433D-41A3-8A78-3112C93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CA205-0013-44FF-B5DE-9DAFBF99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Inspect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0925E-EC63-4EF4-8A3F-F5EDF024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672B9-48DD-4370-8DAE-9FFF1C4B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90775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Text and JSON reports show file status and loop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59B9F-0A7F-4D51-9356-006526D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D4D3B-5047-4FEA-AAFE-5CEAC639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--doctor checks tools, plugin loading, and optional frontends.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9DDA2-7C24-445E-AD7B-6162FF80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D6DB4-4E8F-44F9-A201-41B1A30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4686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The terminal UI exposes paths, policy, width, and a results pane.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ECB42-E7F0-4FEC-A031-09D89630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335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84900-2121-42F5-AB4E-588B02C0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Run at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31EE8-A7B1-4D6F-B37A-CB4C8739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FE59E-5718-44C2-9044-406F4DC5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90775"/>
            <a:ext cx="4800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--jobs runs modules concurrently; --cache-dir reuses verified artifacts.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6B649-A933-4FB9-9337-9100581E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8B8EE-B0FC-46F6-87CF-378D103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0995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Time, memory, and input-size limits bound each job.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D8FC2-6542-4C6B-9E67-77E414E9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C09C5-F937-4FA2-9D3A-A1F429BB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33875"/>
            <a:ext cx="480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CI gates missed loops and compares baseline/candidate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34AA2-FFEE-4BB8-B0B9-CB0E7B5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AEE8A-B939-417A-A320-8DB00829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4E56D"/>
                </a:solidFill>
                <a:latin typeface="Arial"/>
                <a:ea typeface="Arial"/>
                <a:cs typeface="Arial"/>
              </a:rPr>
              <a:t>Atomic writes preserve earlier outputs when compilation or verification fails.</a:t>
            </a:r>
          </a:p>
        </p:txBody>
      </p:sp>
    </p:spTree>
    <p:extLst>
      <p:ext uri="{BB962C8B-B14F-4D97-AF65-F5344CB8AC3E}">
        <p14:creationId xmlns:p14="http://schemas.microsoft.com/office/powerpoint/2010/main" val="1304798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0F993-6F1D-4FC6-8830-F90A8015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Verification and 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B90DC-52B7-4A40-8447-9E8648EB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F6D4E-FDA4-4B6D-A8AF-6B47B305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18888-9065-4C2D-8EA1-47897157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9840E-90CA-4A1B-87E4-24972F4E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Local seven-kernel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89217-79ED-4594-8AE8-E840EC54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71725"/>
            <a:ext cx="4552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All scalar, Rust-pass, and LLVM variants passed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8D2E1-EB26-459E-AD28-23E74C47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90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3C41A-092A-4C4C-824C-8505EC93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cloned loops transformed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558CE-771C-4351-8EAA-0BBFE76B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2.355 µs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C7745-0287-4C08-9F53-82A35E2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95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median in-pass analysis + 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4A9B6-B494-4487-A26C-AF6AA18F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Quick differential suite: 8,192 executions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3FF49EC3-8F44-443A-954C-C26BC845BB53}"/>
              </a:ext>
            </a:extLst>
          </p:cNvPr>
          <p:cNvGraphicFramePr/>
          <p:nvPr/>
        </p:nvGraphicFramePr>
        <p:xfrm>
          <a:off xmlns:a="http://schemas.openxmlformats.org/drawingml/2006/main" x="5572125" y="1828800"/>
          <a:ext xmlns:a="http://schemas.openxmlformats.org/drawingml/2006/main" cx="592455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c7d55615e641ab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9457D-4F18-47DE-AC78-9265683D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15000"/>
            <a:ext cx="586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Apple M5, LLVM 21.1.3, cache-hot kernels. These are local results, not application-wide speedups.</a:t>
            </a:r>
          </a:p>
        </p:txBody>
      </p:sp>
    </p:spTree>
    <p:extLst>
      <p:ext uri="{BB962C8B-B14F-4D97-AF65-F5344CB8AC3E}">
        <p14:creationId xmlns:p14="http://schemas.microsoft.com/office/powerpoint/2010/main" val="421113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2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8F98B-80DF-4140-A288-C2CBB143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Scope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F8FC1-2F07-4A26-8DC7-CE3F3AB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28C55-720A-4DAB-88DA-C42CC9BE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4742D-F050-415F-B22F-90A0EF37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198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B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D0C4-5BF9-4DFC-909E-47BBA1D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Rust pass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EF952-088A-41D3-BD32-6B87EB15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37C1-1158-46E9-86A4-1A0BBE8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Real fixed-width vector IR and explainable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F3670-3B14-49F4-88E5-ABD62AE8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95DCA-A575-4476-B6BE-27E55DBA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73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A bounded single-block loop legality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F83AF-C44D-4800-9692-96E87EA2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3CCD2-11CC-4A01-9B5D-59DF573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Unsupported loops stay scalar in Rust-only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907A4-C488-46E0-9508-4FDFDE1F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4FC97-DFBA-4DB3-9EBA-EA368BDE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CD4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4C9"/>
                </a:solidFill>
                <a:latin typeface="Arial"/>
                <a:ea typeface="Arial"/>
                <a:cs typeface="Arial"/>
              </a:rPr>
              <a:t>Future Rust-pass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9B8EE-2FCF-4090-852C-08928CF4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25606-D952-4047-884E-F5A470C7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47925"/>
            <a:ext cx="4733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Richer target throughput and register-pressure costing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0791B-1E7E-41BB-91DE-7621266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23140-EBF9-4566-91A2-4293FA2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52800"/>
            <a:ext cx="4733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Scalable vectors, masked tails, and interleaving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D2AF5-AA18-4721-8E75-24FF7D6F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DD053-0972-4144-8B85-FBEF229D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19575"/>
            <a:ext cx="4733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1DA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1DADD"/>
                </a:solidFill>
                <a:latin typeface="Arial"/>
                <a:ea typeface="Arial"/>
                <a:cs typeface="Arial"/>
              </a:rPr>
              <a:t>Legality proofs for reductions and multi-block loops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AAE57-4E12-4A93-800F-3C620E5F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81650"/>
            <a:ext cx="1081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F372D-822C-4344-AC8B-A57D2EB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9120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4E5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4E56D"/>
                </a:solidFill>
                <a:latin typeface="Arial"/>
                <a:ea typeface="Arial"/>
                <a:cs typeface="Arial"/>
              </a:rPr>
              <a:t>Hybrid mode delegates broader loop shapes to LLVM’s production vectorizer.</a:t>
            </a:r>
          </a:p>
        </p:txBody>
      </p:sp>
    </p:spTree>
    <p:extLst>
      <p:ext uri="{BB962C8B-B14F-4D97-AF65-F5344CB8AC3E}">
        <p14:creationId xmlns:p14="http://schemas.microsoft.com/office/powerpoint/2010/main" val="967502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2026-10-14T11:16:18.6210000Z</dcterms:created>
  <dcterms:modified xsi:type="dcterms:W3CDTF">2026-10-14T11:16:18.6210000Z</dcterms:modified>
</coreProperties>
</file>