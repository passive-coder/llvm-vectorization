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0a6d3260ad495f" /><Relationship Type="http://schemas.openxmlformats.org/officeDocument/2006/relationships/extended-properties" Target="/docProps/app.xml" Id="R6a2d9478cb444c95" /><Relationship Type="http://schemas.openxmlformats.org/officeDocument/2006/relationships/officeDocument" Target="/ppt/presentation.xml" Id="R62b247e93db54d9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0657dd1d23649e6"/>
  </p:sldMasterIdLst>
  <p:notesMasterIdLst>
    <p:notesMasterId xmlns:r="http://schemas.openxmlformats.org/officeDocument/2006/relationships" r:id="R1d74d346a3cb478f"/>
  </p:notesMasterIdLst>
  <p:sldIdLst>
    <p:sldId xmlns:r="http://schemas.openxmlformats.org/officeDocument/2006/relationships" id="256" r:id="R736ebe80f24940db"/>
    <p:sldId xmlns:r="http://schemas.openxmlformats.org/officeDocument/2006/relationships" id="257" r:id="R5a954a6a31ea4bde"/>
    <p:sldId xmlns:r="http://schemas.openxmlformats.org/officeDocument/2006/relationships" id="258" r:id="Rce447c5d9eec43d5"/>
    <p:sldId xmlns:r="http://schemas.openxmlformats.org/officeDocument/2006/relationships" id="259" r:id="Rd23a16f317064ff2"/>
    <p:sldId xmlns:r="http://schemas.openxmlformats.org/officeDocument/2006/relationships" id="260" r:id="Rf22119a4dd3d4e65"/>
    <p:sldId xmlns:r="http://schemas.openxmlformats.org/officeDocument/2006/relationships" id="261" r:id="R2679b373c2734bb0"/>
    <p:sldId xmlns:r="http://schemas.openxmlformats.org/officeDocument/2006/relationships" id="262" r:id="Rbed7d5199c7d45f9"/>
    <p:sldId xmlns:r="http://schemas.openxmlformats.org/officeDocument/2006/relationships" id="263" r:id="Recb28f71e3c74676"/>
    <p:sldId xmlns:r="http://schemas.openxmlformats.org/officeDocument/2006/relationships" id="264" r:id="R0f31989b27ac4193"/>
    <p:sldId xmlns:r="http://schemas.openxmlformats.org/officeDocument/2006/relationships" id="265" r:id="R11b02126ee034079"/>
  </p:sldIdLst>
  <p:sldSz cx="12191695" cy="6858000"/>
  <p:notesSz cx="6858000" cy="9144000"/>
  <p:embeddedFontLst>
    <p:embeddedFont>
      <p:font typeface="Exo"/>
      <p:regular xmlns:r="http://schemas.openxmlformats.org/officeDocument/2006/relationships" r:id="R5105e69f73954dc2"/>
    </p:embeddedFont>
    <p:embeddedFont>
      <p:font typeface="Exo SemiBold"/>
      <p:regular xmlns:r="http://schemas.openxmlformats.org/officeDocument/2006/relationships" r:id="R4272d4f5f66b4060"/>
    </p:embeddedFont>
    <p:embeddedFont>
      <p:font typeface="Exo Bold"/>
      <p:regular xmlns:r="http://schemas.openxmlformats.org/officeDocument/2006/relationships" r:id="Raa7d007a65d74829"/>
    </p:embeddedFont>
    <p:embeddedFont>
      <p:font typeface="Fira Mono Medium"/>
      <p:regular xmlns:r="http://schemas.openxmlformats.org/officeDocument/2006/relationships" r:id="R07f7c1992b4d4a3c"/>
    </p:embeddedFont>
    <p:embeddedFont>
      <p:font typeface="Fira Mono Bold"/>
      <p:regular xmlns:r="http://schemas.openxmlformats.org/officeDocument/2006/relationships" r:id="Rd7d4bb2eb6be46ff"/>
    </p:embeddedFont>
    <p:embeddedFont>
      <p:font typeface="Fira Mono"/>
      <p:regular xmlns:r="http://schemas.openxmlformats.org/officeDocument/2006/relationships" r:id="Rdff079ad4b8b4bf2"/>
    </p:embeddedFont>
    <p:embeddedFont>
      <p:font typeface="Michroma"/>
      <p:regular xmlns:r="http://schemas.openxmlformats.org/officeDocument/2006/relationships" r:id="R2f0ec89287fd4532"/>
    </p:embeddedFont>
    <p:embeddedFont>
      <p:font typeface="MuseoModerno Bold"/>
      <p:regular xmlns:r="http://schemas.openxmlformats.org/officeDocument/2006/relationships" r:id="Rcf0a1fe2530a4097"/>
    </p:embeddedFont>
  </p:embeddedFontLst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2a455e60504db1" /><Relationship Type="http://schemas.openxmlformats.org/officeDocument/2006/relationships/slideMaster" Target="/ppt/slideMasters/slideMaster1.xml" Id="R10657dd1d23649e6" /><Relationship Type="http://schemas.openxmlformats.org/officeDocument/2006/relationships/notesMaster" Target="/ppt/notesMasters/notesMaster1.xml" Id="R1d74d346a3cb478f" /><Relationship Type="http://schemas.openxmlformats.org/officeDocument/2006/relationships/presProps" Target="/ppt/presProps.xml" Id="Rd7465e56133d41d8" /><Relationship Type="http://schemas.openxmlformats.org/officeDocument/2006/relationships/viewProps" Target="/ppt/viewProps.xml" Id="R062cfbe06eff4c8b" /><Relationship Type="http://schemas.openxmlformats.org/officeDocument/2006/relationships/tableStyles" Target="/ppt/tableStyles.xml" Id="R603044e810cc499c" /><Relationship Type="http://schemas.openxmlformats.org/officeDocument/2006/relationships/font" Target="/ppt/fonts/font.dat" Id="R5105e69f73954dc2" /><Relationship Type="http://schemas.openxmlformats.org/officeDocument/2006/relationships/font" Target="/ppt/fonts/font2.dat" Id="R4272d4f5f66b4060" /><Relationship Type="http://schemas.openxmlformats.org/officeDocument/2006/relationships/font" Target="/ppt/fonts/font3.dat" Id="Raa7d007a65d74829" /><Relationship Type="http://schemas.openxmlformats.org/officeDocument/2006/relationships/font" Target="/ppt/fonts/font4.dat" Id="R07f7c1992b4d4a3c" /><Relationship Type="http://schemas.openxmlformats.org/officeDocument/2006/relationships/font" Target="/ppt/fonts/font5.dat" Id="Rd7d4bb2eb6be46ff" /><Relationship Type="http://schemas.openxmlformats.org/officeDocument/2006/relationships/font" Target="/ppt/fonts/font6.dat" Id="Rdff079ad4b8b4bf2" /><Relationship Type="http://schemas.openxmlformats.org/officeDocument/2006/relationships/font" Target="/ppt/fonts/font7.dat" Id="R2f0ec89287fd4532" /><Relationship Type="http://schemas.openxmlformats.org/officeDocument/2006/relationships/font" Target="/ppt/fonts/font8.dat" Id="Rcf0a1fe2530a4097" /><Relationship Type="http://schemas.openxmlformats.org/officeDocument/2006/relationships/slide" Target="/ppt/slides/slide1.xml" Id="R736ebe80f24940db" /><Relationship Type="http://schemas.openxmlformats.org/officeDocument/2006/relationships/slide" Target="/ppt/slides/slide2.xml" Id="R5a954a6a31ea4bde" /><Relationship Type="http://schemas.openxmlformats.org/officeDocument/2006/relationships/slide" Target="/ppt/slides/slide3.xml" Id="Rce447c5d9eec43d5" /><Relationship Type="http://schemas.openxmlformats.org/officeDocument/2006/relationships/slide" Target="/ppt/slides/slide4.xml" Id="Rd23a16f317064ff2" /><Relationship Type="http://schemas.openxmlformats.org/officeDocument/2006/relationships/slide" Target="/ppt/slides/slide5.xml" Id="Rf22119a4dd3d4e65" /><Relationship Type="http://schemas.openxmlformats.org/officeDocument/2006/relationships/slide" Target="/ppt/slides/slide6.xml" Id="R2679b373c2734bb0" /><Relationship Type="http://schemas.openxmlformats.org/officeDocument/2006/relationships/slide" Target="/ppt/slides/slide7.xml" Id="Rbed7d5199c7d45f9" /><Relationship Type="http://schemas.openxmlformats.org/officeDocument/2006/relationships/slide" Target="/ppt/slides/slide8.xml" Id="Recb28f71e3c74676" /><Relationship Type="http://schemas.openxmlformats.org/officeDocument/2006/relationships/slide" Target="/ppt/slides/slide9.xml" Id="R0f31989b27ac4193" /><Relationship Type="http://schemas.openxmlformats.org/officeDocument/2006/relationships/slide" Target="/ppt/slides/slide10.xml" Id="R11b02126ee0340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224a5066bf40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2a945b651e449c" /><Relationship Type="http://schemas.openxmlformats.org/officeDocument/2006/relationships/notesMaster" Target="/ppt/notesMasters/notesMaster1.xml" Id="Rbc0c88a3b2b845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512c1c0cbe4437" /><Relationship Type="http://schemas.openxmlformats.org/officeDocument/2006/relationships/notesMaster" Target="/ppt/notesMasters/notesMaster1.xml" Id="R91a41ea64d8548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ac003bfe034cb5" /><Relationship Type="http://schemas.openxmlformats.org/officeDocument/2006/relationships/notesMaster" Target="/ppt/notesMasters/notesMaster1.xml" Id="R986895f2d9b042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c5cf69858c42d5" /><Relationship Type="http://schemas.openxmlformats.org/officeDocument/2006/relationships/notesMaster" Target="/ppt/notesMasters/notesMaster1.xml" Id="R5660a8c332134d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73141b9c954708" /><Relationship Type="http://schemas.openxmlformats.org/officeDocument/2006/relationships/notesMaster" Target="/ppt/notesMasters/notesMaster1.xml" Id="Rc48999b6b56f4d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738ca8e9aa47af" /><Relationship Type="http://schemas.openxmlformats.org/officeDocument/2006/relationships/notesMaster" Target="/ppt/notesMasters/notesMaster1.xml" Id="R77797ead4a7b4e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ba623af45144e3" /><Relationship Type="http://schemas.openxmlformats.org/officeDocument/2006/relationships/notesMaster" Target="/ppt/notesMasters/notesMaster1.xml" Id="Rded5163552294d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42e7bbc50b47dd" /><Relationship Type="http://schemas.openxmlformats.org/officeDocument/2006/relationships/notesMaster" Target="/ppt/notesMasters/notesMaster1.xml" Id="R667f8187135c4e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d15aef9507404e" /><Relationship Type="http://schemas.openxmlformats.org/officeDocument/2006/relationships/notesMaster" Target="/ppt/notesMasters/notesMaster1.xml" Id="Rb74cce68d92b4e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27cef7476141b5" /><Relationship Type="http://schemas.openxmlformats.org/officeDocument/2006/relationships/notesMaster" Target="/ppt/notesMasters/notesMaster1.xml" Id="Rfd922824688942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committee members. Today we present our Rust Loop Vectorizer for LLVM 21: a production-grade, correctness-first auto-vectorization pass that couples formal dependence proofs with microsecond compilation latency.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Many view vectorization as merely emitting packed instructions. In practice, the compiler must solve two distinct problems before touching IR: proving absolute memory safety, and ensuring profitability so vector setup doesn't degrade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pipeline is strictly partitioned into four steps: a crash-safe C++17 plugin boundary, an immutable Legality check, a deterministic Cost Planner, and an Execution engine that mutates LLVM IR only when full profitability is proven.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there is any ambiguity in pointer relationships, we reject immediately. We run standard Diophantine GCD checks and exact distance vectors; if any memory pair lacks provenance or 'noalias' guarantees, we fail closed.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loop that can vectorize isn't always faster vectorized. We model explicit instruction weights, loop setup latency, and remainder overhead across three deterministic profiles, with Balanced selected by default.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code generation uses a simple, robust pattern: compute the vector iterations via bitmask n &amp; -VF, execute packed instructions in the vector body, and chain the remaining iterations directly into the scalar epilogue without SSA live-out reconstruction.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demystify compiler optimization decisions, we built rv-vectorize-tui. Engineers can interactively tune loop vectorization parameters and view live legality proofs, selected vector factors, and compilation timing.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Here is our side-by-side IR diff view. On the left is scalar input IR in soft red. On the right, emitted vector IR widens to four 32-bit floats with aligned memory loads and stores before dispatching remainders.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Beyond interactive use, the rv-vectorize CLI integrates seamlessly into production pipelines. It supports LLVM pass remarks, structured JSON output for regression tracking, and strict IR verification to guarantee soundness.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Across our benchmark suite on Apple M5 hardware, our custom Rust pass matches or outperforms LLVM's mature LoopVectorize, delivering a 3.009x geomean speedup. Notice write_index_u64, where stock LLVM misjudged the cost model, yielding a 102.8% performance advantage for our pass.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38ea9046d4a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ee3c0bf6e48ae" /><Relationship Type="http://schemas.openxmlformats.org/officeDocument/2006/relationships/image" Target="/ppt/media/image.jpeg" Id="R0e797aa90ce142c3" /><Relationship Type="http://schemas.openxmlformats.org/officeDocument/2006/relationships/image" Target="/ppt/media/image.png" Id="R5d8ebd0ed09041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2bc5941d054d1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Slide master 1"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430893B-2F5D-43F9-99DD-463CD515EF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97aa90ce142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70655322-DEBA-487D-BB6A-8443FD67A2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ebd0ed09041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>
  <p:cSld name="Slide master 2"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ba8243962b4b16" /><Relationship Type="http://schemas.openxmlformats.org/officeDocument/2006/relationships/slideLayout" Target="/ppt/slideLayouts/slideLayout1.xml" Id="R22477dec7ea94615" /><Relationship Type="http://schemas.openxmlformats.org/officeDocument/2006/relationships/slideLayout" Target="/ppt/slideLayouts/slideLayout2.xml" Id="R0357d7878bf24f65" /><Relationship Type="http://schemas.openxmlformats.org/officeDocument/2006/relationships/slideLayout" Target="/ppt/slideLayouts/slideLayout3.xml" Id="Ra8a1317f9b6240a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477dec7ea94615"/>
    <p:sldLayoutId xmlns:r="http://schemas.openxmlformats.org/officeDocument/2006/relationships" id="2147483650" r:id="R0357d7878bf24f65"/>
    <p:sldLayoutId xmlns:r="http://schemas.openxmlformats.org/officeDocument/2006/relationships" id="2147483651" r:id="Ra8a1317f9b6240a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4e08242a41480d" /><Relationship Type="http://schemas.openxmlformats.org/officeDocument/2006/relationships/notesSlide" Target="/ppt/notesSlides/notesSlide1.xml" Id="R9eac0da3621640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3d11073fe643dc" /><Relationship Type="http://schemas.openxmlformats.org/officeDocument/2006/relationships/notesSlide" Target="/ppt/notesSlides/notesSlide2.xml" Id="Ra91753bb90ce4b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ff1cb9412cd424e" /><Relationship Type="http://schemas.openxmlformats.org/officeDocument/2006/relationships/image" Target="/ppt/media/image2.jpeg" Id="R0e0b2aa479804b2d" /><Relationship Type="http://schemas.openxmlformats.org/officeDocument/2006/relationships/notesSlide" Target="/ppt/notesSlides/notesSlide3.xml" Id="R1a21737f0a3d4e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2f3f1afb3c46fc" /><Relationship Type="http://schemas.openxmlformats.org/officeDocument/2006/relationships/image" Target="/ppt/media/image2.png" Id="R767adad43bee4612" /><Relationship Type="http://schemas.openxmlformats.org/officeDocument/2006/relationships/notesSlide" Target="/ppt/notesSlides/notesSlide4.xml" Id="R5b2f42f15fc74c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80177cbb3649eb" /><Relationship Type="http://schemas.openxmlformats.org/officeDocument/2006/relationships/notesSlide" Target="/ppt/notesSlides/notesSlide5.xml" Id="Rd48e3818cb2049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0bee1d79894aa7" /><Relationship Type="http://schemas.openxmlformats.org/officeDocument/2006/relationships/notesSlide" Target="/ppt/notesSlides/notesSlide6.xml" Id="Reeb1d67e7a9d43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6b3ff4f17340b2" /><Relationship Type="http://schemas.openxmlformats.org/officeDocument/2006/relationships/image" Target="/ppt/media/image3.jpeg" Id="Reb8f9affd5514058" /><Relationship Type="http://schemas.openxmlformats.org/officeDocument/2006/relationships/notesSlide" Target="/ppt/notesSlides/notesSlide7.xml" Id="R4eb94c5ac1cf43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9cacf7d168441b3" /><Relationship Type="http://schemas.openxmlformats.org/officeDocument/2006/relationships/notesSlide" Target="/ppt/notesSlides/notesSlide8.xml" Id="Re96a0caa2dbb43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6fec2f7e4347bc" /><Relationship Type="http://schemas.openxmlformats.org/officeDocument/2006/relationships/image" Target="/ppt/media/image4.jpeg" Id="R44c6b08d771e48fa" /><Relationship Type="http://schemas.openxmlformats.org/officeDocument/2006/relationships/notesSlide" Target="/ppt/notesSlides/notesSlide9.xml" Id="Rc7542f92a7d749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249b52b1ee40b9" /><Relationship Type="http://schemas.openxmlformats.org/officeDocument/2006/relationships/image" Target="/ppt/media/image3.png" Id="R74439ea9bc1f4a04" /><Relationship Type="http://schemas.openxmlformats.org/officeDocument/2006/relationships/image" Target="/ppt/media/image5.jpeg" Id="Rfada50001755407b" /><Relationship Type="http://schemas.openxmlformats.org/officeDocument/2006/relationships/notesSlide" Target="/ppt/notesSlides/notesSlide10.xml" Id="R8d928549798649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06A7B8B-80D8-4850-AFB3-B1331CC8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9" y="662622"/>
            <a:ext cx="7753156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9BE1FF"/>
                </a:solidFill>
                <a:latin typeface="Fira Mono Medium"/>
                <a:ea typeface="Fira Mono Medium"/>
                <a:cs typeface="Fira Mono Medium"/>
              </a:rPr>
              <a:t>COMPILER DESIGN · CAPSTONE PROJECT REVIEW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6AFA15E-2618-4622-A547-9EA26472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9" y="994751"/>
            <a:ext cx="7143571" cy="1862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8000"/>
              </a:lnSpc>
              <a:buNone/>
            </a:pPr>
            <a:r>
              <a:rPr sz="5200" b="1" spc="-208">
                <a:solidFill>
                  <a:srgbClr val="FFFFFF"/>
                </a:solidFill>
                <a:latin typeface="MuseoModerno Bold"/>
                <a:ea typeface="MuseoModerno Bold"/>
                <a:cs typeface="MuseoModerno Bold"/>
              </a:rPr>
              <a:t>RUST LOOP</a:t>
            </a:r>
            <a:endParaRPr sz="5200"/>
          </a:p>
          <a:p xmlns:a="http://schemas.openxmlformats.org/drawingml/2006/main">
            <a:pPr marL="0" indent="0" algn="l">
              <a:lnSpc>
                <a:spcPct val="78000"/>
              </a:lnSpc>
              <a:buNone/>
            </a:pPr>
            <a:r>
              <a:rPr sz="5200" b="1" spc="-208">
                <a:solidFill>
                  <a:srgbClr val="FFFFFF"/>
                </a:solidFill>
                <a:latin typeface="MuseoModerno Bold"/>
                <a:ea typeface="MuseoModerno Bold"/>
                <a:cs typeface="MuseoModerno Bold"/>
              </a:rPr>
              <a:t>VECTORIZER</a:t>
            </a:r>
            <a:endParaRPr sz="5200"/>
          </a:p>
          <a:p xmlns:a="http://schemas.openxmlformats.org/drawingml/2006/main">
            <a:pPr marL="0" indent="0" algn="l">
              <a:lnSpc>
                <a:spcPct val="78000"/>
              </a:lnSpc>
              <a:buNone/>
            </a:pPr>
            <a:r>
              <a:rPr sz="5200" b="1" spc="-208">
                <a:solidFill>
                  <a:srgbClr val="FFFFFF"/>
                </a:solidFill>
                <a:latin typeface="MuseoModerno Bold"/>
                <a:ea typeface="MuseoModerno Bold"/>
                <a:cs typeface="MuseoModerno Bold"/>
              </a:rPr>
              <a:t>FOR LLVM 21</a:t>
            </a:r>
            <a:endParaRPr sz="5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41B09F-7E5F-46A4-B542-73CDDE11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9" y="3026370"/>
            <a:ext cx="1785893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52693F-23CA-42D0-A114-C265033A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9" y="3442041"/>
            <a:ext cx="7143571" cy="636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900">
                <a:solidFill>
                  <a:srgbClr val="FFFFFF"/>
                </a:solidFill>
                <a:latin typeface="Exo"/>
                <a:ea typeface="Exo"/>
                <a:cs typeface="Exo"/>
              </a:rPr>
              <a:t>A Correctness-First Automatic SIMD Pass with Microsecond Latency</a:t>
            </a:r>
            <a:endParaRPr sz="19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209C9E1-704C-4897-B1E3-CD64818E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9" y="4220567"/>
            <a:ext cx="7143571" cy="540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FFFFFF"/>
                </a:solidFill>
                <a:latin typeface="Exo"/>
                <a:ea typeface="Exo"/>
                <a:cs typeface="Exo"/>
              </a:rPr>
              <a:t>Formal data-dependence proofs, deterministic profitability planning, and zero-overhead SIMD codegen.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996EAE-5EBF-42B4-A986-1831A8C6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9" y="4941530"/>
            <a:ext cx="1785893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</a:rPr>
              <a:t>PASS MANAGER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7BB2C3-CE9A-4659-8378-162F5015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9" y="5235178"/>
            <a:ext cx="1785893" cy="243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LLVM 21 New PM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536E3A4-995B-434D-A2CF-51BE342E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96" y="4941530"/>
            <a:ext cx="1582698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</a:rPr>
              <a:t>CORE ENGINE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095F87-F98F-4880-9FBE-03E274C8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96" y="5235178"/>
            <a:ext cx="1582698" cy="243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Safe Rust Core</a:t>
            </a:r>
            <a:endParaRPr sz="13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466ED0-3183-4820-BD27-CD71A33F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189" y="4941530"/>
            <a:ext cx="1582698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</a:rPr>
              <a:t>INTERACTION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B251500-FE18-4DB3-A7B5-C39A9EB2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189" y="5235178"/>
            <a:ext cx="1582698" cy="243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Ratatui TUI</a:t>
            </a:r>
            <a:endParaRPr sz="13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035B28-2826-47EC-AF8C-643F9D5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082" y="4941530"/>
            <a:ext cx="1582698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</a:rPr>
              <a:t>GEOMEAN SPEEDUP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D880BBE-95E1-4CF6-8E23-6175C448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082" y="5235178"/>
            <a:ext cx="1582698" cy="243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9BE1FF"/>
                </a:solidFill>
                <a:latin typeface="Exo"/>
                <a:ea typeface="Exo"/>
                <a:cs typeface="Exo"/>
              </a:rPr>
              <a:t>3.009x</a:t>
            </a:r>
            <a:endParaRPr sz="13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60E210F-AFAF-4419-8CDA-3AD729ED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752" y="4939308"/>
            <a:ext cx="12700" cy="5392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F3F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BEBE194-DA2C-4346-91F4-042A5175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644" y="4939308"/>
            <a:ext cx="12700" cy="5392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F3F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51A92A0-EC86-443A-AE14-873406CE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537" y="4939308"/>
            <a:ext cx="12700" cy="5392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F3F"/>
          </a:solidFill>
        </p:spPr>
      </p:sp>
    </p:spTree>
    <p:extLst>
      <p:ext uri="{BB962C8B-B14F-4D97-AF65-F5344CB8AC3E}">
        <p14:creationId xmlns:p14="http://schemas.microsoft.com/office/powerpoint/2010/main" val="17653878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E98539D-4510-4A63-9F63-71F70D92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THE VECTORIZATION DILEMMA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A44647-E434-47CB-8602-F34F299F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951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Vectorization is a proof-and-planning problem, not opcode substitution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3DE42A1-DCBE-41D5-85D4-6CD80951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064544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2F4B54F-8AD8-438B-8C25-358C5333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320131"/>
            <a:ext cx="2514537" cy="39282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EA4DC3D-62AE-4C2D-95D9-9474A1E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2468066"/>
            <a:ext cx="803751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D5D5D5"/>
                </a:solidFill>
                <a:latin typeface="Exo SemiBold"/>
                <a:ea typeface="Exo SemiBold"/>
                <a:cs typeface="Exo SemiBold"/>
              </a:rPr>
              <a:t>01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FC43E73-C044-4FC8-B990-ABADC926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40" y="2474754"/>
            <a:ext cx="1875882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CHALLENGE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542300B-FDB3-416F-9A8A-3773CD32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40" y="2755384"/>
            <a:ext cx="1621888" cy="396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C++ MONOLITHS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171F790-8DC4-470A-932C-6927739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40" y="3272433"/>
            <a:ext cx="1621888" cy="18932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Traditional C++ LLVM passes are monolithic, prone to memory unsafety, and complex to reason about.</a:t>
            </a:r>
            <a:endParaRPr sz="15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5940665-3ED8-4732-AA82-0C7B794F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914" y="2320131"/>
            <a:ext cx="2514537" cy="39282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757D87-33DF-4474-A422-CF9BB98A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908" y="2468066"/>
            <a:ext cx="84562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D5D5D5"/>
                </a:solidFill>
                <a:latin typeface="Exo SemiBold"/>
                <a:ea typeface="Exo SemiBold"/>
                <a:cs typeface="Exo SemiBold"/>
              </a:rPr>
              <a:t>02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EF88102-26F9-4974-85F4-95557132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439" y="2474754"/>
            <a:ext cx="1834013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LEGALITY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FB7030E-3645-44D1-A5BF-BFB37CEE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439" y="2755384"/>
            <a:ext cx="1580019" cy="396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MEMORY PROOFS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DC80236-3F43-48BF-BE90-E66B2DCF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439" y="3272433"/>
            <a:ext cx="1580019" cy="1352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Prove memory independence without quadratic compilation slowdowns.</a:t>
            </a:r>
            <a:endParaRPr sz="15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181CB76-9F7E-4401-90C5-DD055DA9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2320131"/>
            <a:ext cx="2514537" cy="39282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801F918-2AB4-4298-998B-0DF2498D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237" y="2468066"/>
            <a:ext cx="844132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D5D5D5"/>
                </a:solidFill>
                <a:latin typeface="Exo SemiBold"/>
                <a:ea typeface="Exo SemiBold"/>
                <a:cs typeface="Exo SemiBold"/>
              </a:rPr>
              <a:t>03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6986DD-2285-4C77-A01C-CA26AAAC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280" y="2474754"/>
            <a:ext cx="1835501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COST MODELING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310125D-2D68-46BB-BB50-C9E744AD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280" y="2755384"/>
            <a:ext cx="1581507" cy="396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VECTOR TAX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B5A5309-311F-4BD2-AA44-DA43EBE4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280" y="3272433"/>
            <a:ext cx="1581507" cy="18932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Avoid the “vectorization tax” where SIMD setup and remainder overheads exceed savings.</a:t>
            </a:r>
            <a:endParaRPr sz="15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94ECE9B-EA82-4F65-ACEF-EAA62E21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573" y="2320131"/>
            <a:ext cx="2514537" cy="39282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BAD1A7F-074A-43C1-8449-C25F11E8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567" y="2468066"/>
            <a:ext cx="849688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D5D5D5"/>
                </a:solidFill>
                <a:latin typeface="Exo SemiBold"/>
                <a:ea typeface="Exo SemiBold"/>
                <a:cs typeface="Exo SemiBold"/>
              </a:rPr>
              <a:t>04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C4CAA84-7F73-4A7D-BAB6-FE7D5DCA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165" y="2474754"/>
            <a:ext cx="1575951" cy="3631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RUST + LLVM SYNERGY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BF86E43-85D3-4B0E-947D-8EC4CD3E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165" y="2936954"/>
            <a:ext cx="1575951" cy="396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RUST + LLVM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4A1C159-C56E-4BE3-A547-875D5A78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165" y="3454003"/>
            <a:ext cx="1575951" cy="24342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Memory safety and zero-cost abstractions in a production pass. A fail-closed LLVM 21 plugin in Rust, separating invariant analysis from IR mutation.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279001A-002B-4957-A99D-0D0DE06D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02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895242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1CE53F-3BB4-4388-A36D-43E0B0FB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070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PIPELINE DECOMPOSITION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C59128-1BD9-42E5-B610-FFE50410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99242"/>
            <a:ext cx="10972526" cy="475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Architecture: Legal → Plan → Execute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B3C7F9F-EBFB-4DCB-9305-36F11583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284188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E527286-5CDF-4189-9FD4-48B8B5F5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768376"/>
            <a:ext cx="5958631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Inspired by LLVM VPlan: safety proofs separated from IR mutations to guarantee fail-closed behavior.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5E7BFD3-3955-4522-9CAF-9CE1922E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396034"/>
            <a:ext cx="803751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9BE1FF"/>
                </a:solidFill>
                <a:latin typeface="Exo SemiBold"/>
                <a:ea typeface="Exo SemiBold"/>
                <a:cs typeface="Exo SemiBold"/>
              </a:rPr>
              <a:t>01</a:t>
            </a:r>
            <a:endParaRPr sz="1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59B27DD-AD12-4264-84A6-8EC7915B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662734"/>
            <a:ext cx="27506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1FF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FE436F3-4900-4E72-942F-B44A95F9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798941"/>
            <a:ext cx="2750672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PLUGIN BOUNDARY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2C00A59-77C6-47F3-88FE-9397B0B6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117949"/>
            <a:ext cx="2750672" cy="4931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native/pass_plugin.cpp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C++17 adapter with panic containment.</a:t>
            </a:r>
            <a:endParaRPr sz="13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E1ACA92-39D7-4546-8CFD-69C20606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2396034"/>
            <a:ext cx="84562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9BE1FF"/>
                </a:solidFill>
                <a:latin typeface="Exo SemiBold"/>
                <a:ea typeface="Exo SemiBold"/>
                <a:cs typeface="Exo SemiBold"/>
              </a:rPr>
              <a:t>02</a:t>
            </a:r>
            <a:endParaRPr sz="15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060B761-5A5C-4720-B308-34B49EBD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2662734"/>
            <a:ext cx="27506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1FF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FD953C1-E4CC-4895-8551-4B8CF192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2798941"/>
            <a:ext cx="2750771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LEGALITY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F2BA964-E650-4107-A0FA-52FED4FE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3117949"/>
            <a:ext cx="2750771" cy="7365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src/vectorizer.rs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Canonical single-block loops, 0-based i64 induction, unit strides.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783D518-9BD7-4E0E-8CB8-6B4264E1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311650"/>
            <a:ext cx="844132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9BE1FF"/>
                </a:solidFill>
                <a:latin typeface="Exo SemiBold"/>
                <a:ea typeface="Exo SemiBold"/>
                <a:cs typeface="Exo SemiBold"/>
              </a:rPr>
              <a:t>03</a:t>
            </a:r>
            <a:endParaRPr sz="15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F55F2D8-D284-44DA-A20D-4A4F5112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578350"/>
            <a:ext cx="27506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1FF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DFAE19B-EF88-47D9-8CBA-5BD6B03C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714557"/>
            <a:ext cx="2750672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PLANNING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9026B02-AFAA-42B0-B9E8-31359ECC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033566"/>
            <a:ext cx="2750672" cy="7365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src/cost.rs, config.rs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Conservative, Balanced, Aggressive policies for 128-bit SIMD.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AF7F251-5DD0-428A-9628-EC738405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4311650"/>
            <a:ext cx="849688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9BE1FF"/>
                </a:solidFill>
                <a:latin typeface="Exo SemiBold"/>
                <a:ea typeface="Exo SemiBold"/>
                <a:cs typeface="Exo SemiBold"/>
              </a:rPr>
              <a:t>04</a:t>
            </a:r>
            <a:endParaRPr sz="15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7CA19B1-D84B-45BB-9791-84095137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4578350"/>
            <a:ext cx="27506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1FF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93D539C-774E-411D-8DC2-9D030718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4714557"/>
            <a:ext cx="2750771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EXECUTION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0AC6809-D7C4-4F54-8594-04CE19C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5033566"/>
            <a:ext cx="2750771" cy="9862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src/vectorizer.rs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Vector preheader dispatch, </a:t>
            </a: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&lt;N x T&gt;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SIMD instructions, scalar remainder loop.</a:t>
            </a:r>
            <a:endParaRPr sz="1350"/>
          </a:p>
        </p:txBody>
      </p:sp>
      <p:pic>
        <p:nvPicPr>
          <p:cNvPr id="22" name="Image 0">
            <a:extLst xmlns:a="http://schemas.openxmlformats.org/drawingml/2006/main">
              <a:ext uri="{FF2B5EF4-FFF2-40B4-BE49-F238E27FC236}">
                <a16:creationId xmlns:a16="http://schemas.microsoft.com/office/drawing/2014/main" id="{F1FB8534-FE58-4861-9604-4320ABD967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b2aa479804b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3900" y="1768376"/>
            <a:ext cx="4099616" cy="4251424"/>
          </a:xfrm>
          <a:prstGeom xmlns:a="http://schemas.openxmlformats.org/drawingml/2006/main" prst="rect">
            <a:avLst/>
          </a:prstGeom>
        </p:spPr>
      </p:pic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C281C1E-D3A3-4645-9C38-A0D228A7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03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587273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66E5666-4661-4572-9B98-084872B4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FORMAL DATA DEPENDENCE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D03631A-18EB-4C36-9F21-FEB0FB9B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951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Uncertainty is a rejection, not permission to transform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DD53153-89EE-49E4-A3D5-AE20F007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064544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ADF3DD-E551-40F2-8CFD-4C0D89F6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320131"/>
            <a:ext cx="10972526" cy="6490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800">
                <a:solidFill>
                  <a:srgbClr val="D5D5D5"/>
                </a:solidFill>
                <a:latin typeface="Exo"/>
                <a:ea typeface="Exo"/>
                <a:cs typeface="Exo"/>
              </a:rPr>
              <a:t>A fail-closed verification pipeline proves loop independence via Diophantine analysis before vectorization is considered.</a:t>
            </a:r>
            <a:endParaRPr sz="1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40CB09B-7123-4028-8A69-E0530F71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147020"/>
            <a:ext cx="2514537" cy="31380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ACCD033-F623-4D87-BB80-E3D910F2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304183"/>
            <a:ext cx="2057349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AFFINE SUBSCRIPTS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DE87EFA-1CB9-4612-9362-BF62D862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832820"/>
            <a:ext cx="2057349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Induction-derived array index normalization: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786C457-0C08-4E68-815D-BAD74D4E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4433887"/>
            <a:ext cx="2285943" cy="337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800">
                <a:solidFill>
                  <a:srgbClr val="9BE1FF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i, i + c, c + i, i - c</a:t>
            </a:r>
            <a:endParaRPr sz="18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1E2F53C-DC8F-485A-90E3-198CF5B6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69" y="4440238"/>
            <a:ext cx="1629032" cy="311150"/>
          </a:xfrm>
          <a:prstGeom xmlns:a="http://schemas.openxmlformats.org/drawingml/2006/main" prst="roundRect">
            <a:avLst>
              <a:gd name="adj" fmla="val 11020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81CF787-660E-4A56-8F08-ACAF8B2D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4885432"/>
            <a:ext cx="2057349" cy="9735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All non-affine or non-unit induction references immediately abort vector analysis.</a:t>
            </a:r>
            <a:endParaRPr sz="13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74153EC-B80C-4273-9068-92A6796E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914" y="3147020"/>
            <a:ext cx="2514537" cy="31380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61364FD-F277-4793-B5D0-F0E972B5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509" y="3304183"/>
            <a:ext cx="1911699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GCD TEST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79EB89D-57EA-44C9-B67D-02F3D40B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509" y="3642320"/>
            <a:ext cx="2057349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Greatest common divisor equation:</a:t>
            </a:r>
            <a:endParaRPr sz="1350"/>
          </a:p>
        </p:txBody>
      </p:sp>
      <p:pic>
        <p:nvPicPr>
          <p:cNvPr id="15" name="Image 0">
            <a:extLst xmlns:a="http://schemas.openxmlformats.org/drawingml/2006/main">
              <a:ext uri="{FF2B5EF4-FFF2-40B4-BE49-F238E27FC236}">
                <a16:creationId xmlns:a16="http://schemas.microsoft.com/office/drawing/2014/main" id="{6285BC64-52D1-4C09-828A-F366172217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adad43bee46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509" y="4243388"/>
            <a:ext cx="2057349" cy="660400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9C23591-492A-4DC8-A674-DB1DA9D7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509" y="5018088"/>
            <a:ext cx="2057349" cy="9735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When not divisible, independence is mathematically proven for all iterations.</a:t>
            </a:r>
            <a:endParaRPr sz="13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90170A9-1C4B-4607-A59E-12B88585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3147020"/>
            <a:ext cx="2514537" cy="31380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957FE3C-106B-4303-82DA-5F809DAB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3304183"/>
            <a:ext cx="2057349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EXACT DISTANCE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199C17F-2285-4699-BF3E-0C2B7BC6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3832820"/>
            <a:ext cx="2057349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Direct slope equation resolution:</a:t>
            </a:r>
            <a:endParaRPr sz="13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20C782B-DC66-4336-93E7-8744B219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4433887"/>
            <a:ext cx="2057349" cy="6744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800">
                <a:solidFill>
                  <a:srgbClr val="9BE1FF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Distance = \Delta \neq 0</a:t>
            </a:r>
            <a:endParaRPr sz="18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D270858-F15F-4181-9575-73B2775B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428" y="4440238"/>
            <a:ext cx="1895130" cy="648395"/>
          </a:xfrm>
          <a:prstGeom xmlns:a="http://schemas.openxmlformats.org/drawingml/2006/main" prst="roundRect">
            <a:avLst>
              <a:gd name="adj" fmla="val 5288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383BE6A-A834-45B8-B926-5E192AFB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5222677"/>
            <a:ext cx="2057349" cy="9735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Any non-zero distance (flow, anti, or output dependence) triggers immediate rejection.</a:t>
            </a:r>
            <a:endParaRPr sz="13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D9A16297-E47C-45B9-9B81-53B72534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573" y="3147020"/>
            <a:ext cx="2514537" cy="31380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B241728-87A3-481E-84DE-AFC545D4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167" y="3304183"/>
            <a:ext cx="2057349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ALIASING CONTRACT</a:t>
            </a:r>
            <a:endParaRPr sz="12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CB326AD-D6A5-4C89-958B-A4B5A49B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167" y="3832820"/>
            <a:ext cx="2057349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Disjoint pointer verification:</a:t>
            </a:r>
            <a:endParaRPr sz="13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941CC83-4836-425B-BE43-3DCDD08A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167" y="4433887"/>
            <a:ext cx="2057349" cy="6744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800">
                <a:solidFill>
                  <a:srgbClr val="9BE1FF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noalias | GlobalValue</a:t>
            </a:r>
            <a:endParaRPr sz="18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16AC801F-0025-4741-91EF-2B079D54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758" y="4440238"/>
            <a:ext cx="1298443" cy="648395"/>
          </a:xfrm>
          <a:prstGeom xmlns:a="http://schemas.openxmlformats.org/drawingml/2006/main" prst="roundRect">
            <a:avLst>
              <a:gd name="adj" fmla="val 5288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7A02549-7F1E-426F-9520-6EB9643B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167" y="5222677"/>
            <a:ext cx="2057349" cy="9862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Unknown pointer pairs fail closed as </a:t>
            </a: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possible-pointer-alias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without speculative cloning.</a:t>
            </a:r>
            <a:endParaRPr sz="135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A902F3D-23CE-40F4-A4E7-51B64F72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04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6429673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886616F-5541-48AA-AC43-58E4DE28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DETERMINISTIC COST MODELING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A64C54-B81E-46EB-90F4-DB0C080D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475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Vectorizable does not mean profitable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7A6CA0-03BD-4CE4-82B3-FD3FA4D7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88988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E3D9F07-6C2F-48D6-9756-9DC28EA5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844576"/>
            <a:ext cx="10972526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Short trip counts and remainder epilogue branches can degrade runtime. Operation weights: Loads/Stores 2, Div/Rem 4, Arithmetic/Select 1, Loop Setup 6. Unknown dynamic bounds default to 64.</a:t>
            </a:r>
            <a:endParaRPr sz="13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B831D8B-0367-4F09-A298-3F0BFC2C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509143"/>
            <a:ext cx="3454314" cy="37392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7AC5AC8-733D-4E70-B451-5D0D1930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2894905"/>
            <a:ext cx="2078382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PROFILE 01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2E2FB85-FAC7-496F-9495-D00B5472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3220025"/>
            <a:ext cx="2946326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CONSERVATIVE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4D8ECCD-8B43-4921-9BB1-3DF89E4F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3585071"/>
            <a:ext cx="736482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3F3F3F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AB3653C-6B05-46CD-B79A-93819387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3777159"/>
            <a:ext cx="2946326" cy="144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Min Trip Count: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4 * VF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Cost Ratio: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≥ 1.25x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High certainty bar. Protects cold code and branch-heavy loops against any epilogue penalties.</a:t>
            </a:r>
            <a:endParaRPr sz="13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DDE5545-2B96-47A3-AB0D-5C41587D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5764252"/>
            <a:ext cx="320032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LATENCY CRITICAL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B02F1EA-4F2D-4EA5-8245-16E89753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691" y="2509143"/>
            <a:ext cx="3454314" cy="37392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B55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3C48E27-D50A-4AAF-83E3-81450535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84" y="2813943"/>
            <a:ext cx="1384861" cy="3048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0364D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51D5C55-0036-435E-96FE-77961BED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981" y="2894905"/>
            <a:ext cx="1765851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DEFAULT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82453A0-EBA6-450F-84E9-B84603B2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84" y="3220025"/>
            <a:ext cx="2946326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FFFFFF"/>
                </a:solidFill>
                <a:latin typeface="Michroma"/>
                <a:ea typeface="Michroma"/>
                <a:cs typeface="Michroma"/>
              </a:rPr>
              <a:t>BALANCED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04BCB6E-6F81-4F64-9B80-7BF030D9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84" y="3585071"/>
            <a:ext cx="736482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20034-199A-4AFC-9F29-5233B324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84" y="3777159"/>
            <a:ext cx="2946326" cy="16889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Min Trip Count: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2 * VF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Cost Ratio: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≥ 1.08x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Default compiler configuration. Balances 100% issued-lane utilization against scalar remainder cost.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5277F1-957F-4B71-B469-96A3DFDA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84" y="5764252"/>
            <a:ext cx="320032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</a:rPr>
              <a:t>GENERAL PRODUCTION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CF383FC-28E3-4CD1-86C3-1F24D0BE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509143"/>
            <a:ext cx="3454314" cy="37392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C3CAF7-8B2A-4EA7-8C62-5C1FE45B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0" y="2894905"/>
            <a:ext cx="2078382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PROFILE 03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1908287-3D45-4826-9A98-5058FC94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0" y="3220025"/>
            <a:ext cx="2946326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AGGRESSIVE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62AD811-13FE-409B-B9BE-BA6D2F50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0" y="3585071"/>
            <a:ext cx="736482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3F3F3F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0D37705-E0EB-4823-8A6D-AB448CBE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0" y="3777159"/>
            <a:ext cx="2946326" cy="144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Min Trip Count: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1 * VF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Cost Ratio: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≥ 1.00x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Transforms any loop where SIMD operations break even, maximizing vector throughput.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EDFA35F-2208-482B-A161-640E3CF6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0" y="5764252"/>
            <a:ext cx="320032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HPC &amp; NUMERICAL COMPUTE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35269ED-0A09-4E4E-A101-EB3CAAB8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05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6485288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9F5C2B-EE04-4DE2-9DB4-06AA1C62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SIMD CODE GENERATION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2849410-5C38-496E-AD08-69E8D28A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475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Code generation with a scalar remainder epilogue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B0F2C9E-7CFF-46F4-8077-F46C9131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88988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A2213A0-6463-4CCC-9763-525A5422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844576"/>
            <a:ext cx="5608200" cy="7365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Loop counts are masked with </a:t>
            </a: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n &amp; -VF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for clean vector trips. Induction updates pass remainder iterations straight into the original scalar loop with zero live-out exit PHIs.</a:t>
            </a:r>
            <a:endParaRPr sz="13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50A2CFB-B7CE-4C6B-BDF4-E1FDAB38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366889"/>
            <a:ext cx="5608200" cy="1905000"/>
          </a:xfrm>
          <a:prstGeom xmlns:a="http://schemas.openxmlformats.org/drawingml/2006/main" prst="roundRect">
            <a:avLst>
              <a:gd name="adj" fmla="val 600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550CB84-91AF-4842-ABE9-7C218BC1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557389"/>
            <a:ext cx="5151011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// Vector trip count computation: bitwise mask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let vector_trip_count = n &amp; -(vf as i64);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// Dispatch condition: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// if (n &gt;= vf) goto vector.body else goto scalar.body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E7E6712-602B-481C-87B6-F73C0760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059226"/>
            <a:ext cx="5608200" cy="1906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100" spc="11">
                <a:solidFill>
                  <a:srgbClr val="9D9D9D"/>
                </a:solidFill>
                <a:latin typeface="Exo"/>
                <a:ea typeface="Exo"/>
                <a:cs typeface="Exo"/>
              </a:rPr>
              <a:t>Native 128-bit vector types: </a:t>
            </a:r>
            <a:r>
              <a:rPr sz="1100" spc="11">
                <a:solidFill>
                  <a:srgbClr val="9D9D9D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&lt;2 x i64&gt;, &lt;4 x i32&gt;, &lt;4 x float&gt;, &lt;8 x i16&gt;, &lt;16 x i8&gt;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8394E29-037E-4DC0-A710-34527C89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793" y="6051352"/>
            <a:ext cx="3380894" cy="1905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726A1F9-03B0-4FA1-BA26-09E32E0E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874" y="1844576"/>
            <a:ext cx="4907237" cy="1370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563970A-7A77-403C-8194-E9F2C952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069" y="2044283"/>
            <a:ext cx="4500847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DISPATCH GUARD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86B24D4-8CF2-4A75-8C45-0D5B99BA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069" y="2363291"/>
            <a:ext cx="4500847" cy="4931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Evaluates </a:t>
            </a: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n &gt;= VF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at loop entry; skips vector setup entirely if trip count is insufficient.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275934E-B97B-4B9E-960C-6B05AC75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874" y="3367484"/>
            <a:ext cx="4907237" cy="1364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13CF5AF-52BE-499B-B2A2-D25E6B6B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069" y="3567192"/>
            <a:ext cx="4500847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SIMD OPERATIONS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0BB76-B06B-41AA-B64E-830EC186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069" y="3886200"/>
            <a:ext cx="4500847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Vector loads/stores, SIMD arithmetic, bitwise logic, zext/sext, icmp/fcmp, and vector selects.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BD9B16F-D6A9-4DA5-AB9D-4C9FE4D6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874" y="4884142"/>
            <a:ext cx="4907237" cy="1364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F215F03-3AA4-4F8D-96B4-461CF719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069" y="5083850"/>
            <a:ext cx="4500847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ZERO LIVE-OUTS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20B87B7-3404-4BA6-A798-DC271F3E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069" y="5402858"/>
            <a:ext cx="4500847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Eliminates exit PHI nodes and complex SSA repair by feeding remaining iterations directly to scalar entry.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0DA9888-519C-45C6-8E9B-5F1747DC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06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0469741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103EB46-3832-425F-BD9B-71EE313B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DEVELOPER EXPERIENCE &amp; OBSERVABILITY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C3EC406-C499-41B2-AF5E-6C669697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475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rv-vectorize-tui now accepts project folders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940CC2-7485-4107-9F3C-900F47C3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88988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DD886E67-0F6B-4E56-8E19-19DCDE58D4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f9affd55140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179" y="2073176"/>
            <a:ext cx="4800480" cy="3946624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7BEDF5E-8965-40CF-B85D-E6598CD4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2" y="2888357"/>
            <a:ext cx="5257668" cy="23161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Built with Ratatui and Crossterm; now supports folder runs</a:t>
            </a:r>
            <a:endParaRPr sz="1500"/>
          </a:p>
          <a:p xmlns:a="http://schemas.openxmlformats.org/drawingml/2006/main"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sz="1500" b="1">
                <a:solidFill>
                  <a:srgbClr val="D5D5D5"/>
                </a:solidFill>
                <a:latin typeface="Exo Bold"/>
                <a:ea typeface="Exo Bold"/>
                <a:cs typeface="Exo Bold"/>
              </a:rPr>
              <a:t>Interactive form:</a:t>
            </a: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 source folder, output folder, policy, vector width</a:t>
            </a:r>
            <a:endParaRPr sz="1500"/>
          </a:p>
          <a:p xmlns:a="http://schemas.openxmlformats.org/drawingml/2006/main"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sz="1500" b="1">
                <a:solidFill>
                  <a:srgbClr val="D5D5D5"/>
                </a:solidFill>
                <a:latin typeface="Exo Bold"/>
                <a:ea typeface="Exo Bold"/>
                <a:cs typeface="Exo Bold"/>
              </a:rPr>
              <a:t>Live transcript:</a:t>
            </a: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 per-file results, loop decisions, chosen VF, timing</a:t>
            </a:r>
            <a:endParaRPr sz="1500"/>
          </a:p>
          <a:p xmlns:a="http://schemas.openxmlformats.org/drawingml/2006/main"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Non-blocking background worker thread with animated progress indicator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510FD30-D3E6-4C85-9C0B-41025CEC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07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2195566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70278C-A6EA-4BA2-BFB8-D50A89D8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IR VERIFICATION &amp; INSPECTION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FEC8B07-6563-4334-8518-EB6CEB30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475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Side-by-side IR diff verifies every transformation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37A609C-CD2E-4A32-A498-75E727C5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88988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A6309D8-E2FB-4E5C-9AA4-C7156453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844576"/>
            <a:ext cx="10972526" cy="540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Interactive diff mode in the TUI via the [DIFF] button or keyboard shortcuts. GitHub-style coloring: scalar input IR in soft red; emitted vector IR in green. Inspect vector widening, memory alignments, and dispatch branches in real time.</a:t>
            </a:r>
            <a:endParaRPr sz="15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5847D0D-0BB7-4CF2-B0A3-54991EC9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061295"/>
            <a:ext cx="5333867" cy="251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B1D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F3E36B2-3088-4826-BE40-0A9B7F8F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320058"/>
            <a:ext cx="2846217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SCALAR INPUT IR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2C88635-E909-4601-99F5-B7B3D373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885208"/>
            <a:ext cx="4876678" cy="1295400"/>
          </a:xfrm>
          <a:prstGeom xmlns:a="http://schemas.openxmlformats.org/drawingml/2006/main" prst="roundRect">
            <a:avLst>
              <a:gd name="adj" fmla="val 882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BDCDBD2-0524-4AE5-8A52-C3AC802D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73" y="4075708"/>
            <a:ext cx="441948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; scalar input IR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%s = fadd float %a, %b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store float %s, ptr %pc</a:t>
            </a:r>
            <a:endParaRPr sz="15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0B63D07-4733-4F41-A5CC-6FD3D4D3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3061295"/>
            <a:ext cx="5333867" cy="251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22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673914F-1083-4F94-B8C1-5201C683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3239095"/>
            <a:ext cx="2798692" cy="3048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0364D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5E748F8-BC22-4E39-9AD1-4782D23C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135" y="3320058"/>
            <a:ext cx="3179683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EMITTED VECTOR IR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772202A-2E24-4027-9C94-A5389F19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3885208"/>
            <a:ext cx="4876678" cy="1295400"/>
          </a:xfrm>
          <a:prstGeom xmlns:a="http://schemas.openxmlformats.org/drawingml/2006/main" prst="roundRect">
            <a:avLst>
              <a:gd name="adj" fmla="val 882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E84E700-D904-4DCC-9D85-E24FF581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432" y="4075708"/>
            <a:ext cx="441948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; vector widening: &lt;4 x float&gt;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%v = load &lt;4 x float&gt;, ptr %p, align 16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br label %remainder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6165B9-E637-4BCB-B552-64D76014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08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3918422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370E97-5A7E-4188-BB9F-DC33462A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AUTOMATION &amp; CI/CD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FB4CF90-032B-43FB-AA53-D3F79762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475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Project-wide CLI for multiple languages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FE4F158-A3D4-4B8C-904D-DD448B93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88988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ACEBF67-5D31-476C-BF3E-AA64A09A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073176"/>
            <a:ext cx="5958631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Recursively processes source folders, preserves output paths, and reports each file.</a:t>
            </a:r>
            <a:endParaRPr sz="13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94D8C38-ECF3-46A5-9039-5775F992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901255"/>
            <a:ext cx="5958631" cy="6858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8EF3D5C-CD69-4F4C-8251-7FFEDDBB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091755"/>
            <a:ext cx="5730037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rv-vectorize src/ -o build/vec --report-json report.json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12E950-01CC-435D-8E33-2ACC5C34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752618"/>
            <a:ext cx="2979266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LANGUAGE INPUTS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D552703-B9BB-4666-9942-7E9332BB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046266"/>
            <a:ext cx="2776071" cy="9735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Adapters for C/C++, Objective-C/++, Fortran, Rust and Swift. Other languages enter through LLVM IR or bitcode.</a:t>
            </a:r>
            <a:endParaRPr sz="13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922385C-9AA7-4941-888A-87EAB912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046" y="4752618"/>
            <a:ext cx="277617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PROJECT REPORTS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C9ACB84-52B8-45D7-BA06-980D62AE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046" y="5046266"/>
            <a:ext cx="2776170" cy="7301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Per-file JSON decisions and skip reasons. Parallel jobs and verified cache reuse support CI runs.</a:t>
            </a:r>
            <a:endParaRPr sz="1350"/>
          </a:p>
        </p:txBody>
      </p:sp>
      <p:pic>
        <p:nvPicPr>
          <p:cNvPr id="12" name="Image 0">
            <a:extLst xmlns:a="http://schemas.openxmlformats.org/drawingml/2006/main">
              <a:ext uri="{FF2B5EF4-FFF2-40B4-BE49-F238E27FC236}">
                <a16:creationId xmlns:a16="http://schemas.microsoft.com/office/drawing/2014/main" id="{A101B1DC-2F39-4514-A505-06E317425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6b08d771e48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3900" y="2073176"/>
            <a:ext cx="4099616" cy="394662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D0A5EE6-CD1A-45CC-B196-1841D1A6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501" y="4750395"/>
            <a:ext cx="12700" cy="12694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F3F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C623A22-AB2C-4E9A-916E-997C7BA2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09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523466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159122A-61EE-4D68-94D3-D387E3EF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6" y="459422"/>
            <a:ext cx="6349841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BENCHMARK RESULTS · APPLE M5 ARM64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9DD349-5DB3-466D-99A6-4C22370C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6" y="751642"/>
            <a:ext cx="5994250" cy="1426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3.009x geomean speedup, matching or beating LLVM LoopVectorize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8301246-64E0-4BF6-9075-075405CA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6" y="2387699"/>
            <a:ext cx="1498463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7690A80-1EAF-4660-AFA1-30685C5B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6" y="2643287"/>
            <a:ext cx="5994250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Apple M5 (arm64, Darwin 25.5.0), LLVM 21.1.3, 21 samples per kernel. Overall geometric mean: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3.009x (custom)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vs </a:t>
            </a:r>
            <a:r>
              <a:rPr sz="1350" b="1">
                <a:solidFill>
                  <a:srgbClr val="D5D5D5"/>
                </a:solidFill>
                <a:latin typeface="Exo Bold"/>
                <a:ea typeface="Exo Bold"/>
                <a:cs typeface="Exo Bold"/>
              </a:rPr>
              <a:t>2.974x (LLVM)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.</a:t>
            </a:r>
            <a:endParaRPr sz="1350"/>
          </a:p>
        </p:txBody>
      </p:sp>
      <p:pic>
        <p:nvPicPr>
          <p:cNvPr id="6" name="Image 0">
            <a:extLst xmlns:a="http://schemas.openxmlformats.org/drawingml/2006/main">
              <a:ext uri="{FF2B5EF4-FFF2-40B4-BE49-F238E27FC236}">
                <a16:creationId xmlns:a16="http://schemas.microsoft.com/office/drawing/2014/main" id="{0B5755D9-59DA-4CC8-885F-37DD36CB2D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39ea9bc1f4a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786" y="3373934"/>
            <a:ext cx="5587860" cy="241429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C43E95-2BA8-42E9-99C4-266DD038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6" y="6033627"/>
            <a:ext cx="5994250" cy="3686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100" spc="11">
                <a:solidFill>
                  <a:srgbClr val="9D9D9D"/>
                </a:solidFill>
                <a:latin typeface="Exo"/>
                <a:ea typeface="Exo"/>
                <a:cs typeface="Exo"/>
              </a:rPr>
              <a:t>write_index_u64 demonstrates a +102.8% advantage over stock LLVM due to exact cost modeling.</a:t>
            </a:r>
            <a:endParaRPr sz="1100"/>
          </a:p>
        </p:txBody>
      </p:sp>
      <p:pic>
        <p:nvPicPr>
          <p:cNvPr id="8" name="Image 1">
            <a:extLst xmlns:a="http://schemas.openxmlformats.org/drawingml/2006/main">
              <a:ext uri="{FF2B5EF4-FFF2-40B4-BE49-F238E27FC236}">
                <a16:creationId xmlns:a16="http://schemas.microsoft.com/office/drawing/2014/main" id="{C89EDF4D-76BB-4939-ACB5-EF87DAA735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a5000175540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18212" y="609600"/>
            <a:ext cx="4063898" cy="563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3402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2026-10-14T11:31:30.8540000Z</dcterms:created>
  <dcterms:modified xsi:type="dcterms:W3CDTF">2026-10-14T11:31:30.8540000Z</dcterms:modified>
</coreProperties>
</file>