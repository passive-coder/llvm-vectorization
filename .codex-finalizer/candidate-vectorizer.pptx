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4a2f2356564f04" /><Relationship Type="http://schemas.openxmlformats.org/officeDocument/2006/relationships/extended-properties" Target="/docProps/app.xml" Id="Re9f841607b014ea1" /><Relationship Type="http://schemas.openxmlformats.org/officeDocument/2006/relationships/officeDocument" Target="/ppt/presentation.xml" Id="Ra92d0b083dc64f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8e4b259e6349ba"/>
  </p:sldMasterIdLst>
  <p:notesMasterIdLst>
    <p:notesMasterId xmlns:r="http://schemas.openxmlformats.org/officeDocument/2006/relationships" r:id="Rb53a2e336d0f4f54"/>
  </p:notesMasterIdLst>
  <p:sldIdLst>
    <p:sldId xmlns:r="http://schemas.openxmlformats.org/officeDocument/2006/relationships" id="256" r:id="R2599b129031145d9"/>
    <p:sldId xmlns:r="http://schemas.openxmlformats.org/officeDocument/2006/relationships" id="257" r:id="R4fccabf399464e34"/>
    <p:sldId xmlns:r="http://schemas.openxmlformats.org/officeDocument/2006/relationships" id="258" r:id="Rb2be3c701adf4b39"/>
    <p:sldId xmlns:r="http://schemas.openxmlformats.org/officeDocument/2006/relationships" id="259" r:id="Re4f9e931ba254362"/>
    <p:sldId xmlns:r="http://schemas.openxmlformats.org/officeDocument/2006/relationships" id="260" r:id="R88651e22d93e4d10"/>
    <p:sldId xmlns:r="http://schemas.openxmlformats.org/officeDocument/2006/relationships" id="261" r:id="Rf250cdfc4976403a"/>
    <p:sldId xmlns:r="http://schemas.openxmlformats.org/officeDocument/2006/relationships" id="262" r:id="R8190fe3cf40e448e"/>
    <p:sldId xmlns:r="http://schemas.openxmlformats.org/officeDocument/2006/relationships" id="263" r:id="Rd1bf39f5c176431a"/>
    <p:sldId xmlns:r="http://schemas.openxmlformats.org/officeDocument/2006/relationships" id="264" r:id="R9510af314d224387"/>
    <p:sldId xmlns:r="http://schemas.openxmlformats.org/officeDocument/2006/relationships" id="265" r:id="R219e977f050143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0aaed5d0b74820" /><Relationship Type="http://schemas.openxmlformats.org/officeDocument/2006/relationships/slideMaster" Target="/ppt/slideMasters/slideMaster1.xml" Id="R018e4b259e6349ba" /><Relationship Type="http://schemas.openxmlformats.org/officeDocument/2006/relationships/notesMaster" Target="/ppt/notesMasters/notesMaster1.xml" Id="Rb53a2e336d0f4f54" /><Relationship Type="http://schemas.openxmlformats.org/officeDocument/2006/relationships/presProps" Target="/ppt/presProps.xml" Id="R8ed3e9cbc3fc432b" /><Relationship Type="http://schemas.openxmlformats.org/officeDocument/2006/relationships/tableStyles" Target="/ppt/tableStyles.xml" Id="R8d0ab3a208274bfd" /><Relationship Type="http://schemas.openxmlformats.org/officeDocument/2006/relationships/slide" Target="/ppt/slides/slide1.xml" Id="R2599b129031145d9" /><Relationship Type="http://schemas.openxmlformats.org/officeDocument/2006/relationships/slide" Target="/ppt/slides/slide2.xml" Id="R4fccabf399464e34" /><Relationship Type="http://schemas.openxmlformats.org/officeDocument/2006/relationships/slide" Target="/ppt/slides/slide3.xml" Id="Rb2be3c701adf4b39" /><Relationship Type="http://schemas.openxmlformats.org/officeDocument/2006/relationships/slide" Target="/ppt/slides/slide4.xml" Id="Re4f9e931ba254362" /><Relationship Type="http://schemas.openxmlformats.org/officeDocument/2006/relationships/slide" Target="/ppt/slides/slide5.xml" Id="R88651e22d93e4d10" /><Relationship Type="http://schemas.openxmlformats.org/officeDocument/2006/relationships/slide" Target="/ppt/slides/slide6.xml" Id="Rf250cdfc4976403a" /><Relationship Type="http://schemas.openxmlformats.org/officeDocument/2006/relationships/slide" Target="/ppt/slides/slide7.xml" Id="R8190fe3cf40e448e" /><Relationship Type="http://schemas.openxmlformats.org/officeDocument/2006/relationships/slide" Target="/ppt/slides/slide8.xml" Id="Rd1bf39f5c176431a" /><Relationship Type="http://schemas.openxmlformats.org/officeDocument/2006/relationships/slide" Target="/ppt/slides/slide9.xml" Id="R9510af314d224387" /><Relationship Type="http://schemas.openxmlformats.org/officeDocument/2006/relationships/slide" Target="/ppt/slides/slide10.xml" Id="R219e977f050143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3b8c25f58a44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1477b22395476d" /><Relationship Type="http://schemas.openxmlformats.org/officeDocument/2006/relationships/notesMaster" Target="/ppt/notesMasters/notesMaster1.xml" Id="R06b81d97ddc34f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c24e54cced4382" /><Relationship Type="http://schemas.openxmlformats.org/officeDocument/2006/relationships/notesMaster" Target="/ppt/notesMasters/notesMaster1.xml" Id="R9f5536c8d32046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90f3a5871f40c6" /><Relationship Type="http://schemas.openxmlformats.org/officeDocument/2006/relationships/notesMaster" Target="/ppt/notesMasters/notesMaster1.xml" Id="R75508408def941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7b2545155c4f02" /><Relationship Type="http://schemas.openxmlformats.org/officeDocument/2006/relationships/notesMaster" Target="/ppt/notesMasters/notesMaster1.xml" Id="R1ada5ab6723542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1df818619d4d65" /><Relationship Type="http://schemas.openxmlformats.org/officeDocument/2006/relationships/notesMaster" Target="/ppt/notesMasters/notesMaster1.xml" Id="Rd82319f96ee94e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6eb5be587b4983" /><Relationship Type="http://schemas.openxmlformats.org/officeDocument/2006/relationships/notesMaster" Target="/ppt/notesMasters/notesMaster1.xml" Id="R35dc5686d9a643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de84c953a947ee" /><Relationship Type="http://schemas.openxmlformats.org/officeDocument/2006/relationships/notesMaster" Target="/ppt/notesMasters/notesMaster1.xml" Id="R99e58008691444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a1b6557ad34ba1" /><Relationship Type="http://schemas.openxmlformats.org/officeDocument/2006/relationships/notesMaster" Target="/ppt/notesMasters/notesMaster1.xml" Id="R090aa009f6804c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2e5a50b4ae4e27" /><Relationship Type="http://schemas.openxmlformats.org/officeDocument/2006/relationships/notesMaster" Target="/ppt/notesMasters/notesMaster1.xml" Id="R7a0c3a523a1d4a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f53f8d6cd84b8a" /><Relationship Type="http://schemas.openxmlformats.org/officeDocument/2006/relationships/notesMaster" Target="/ppt/notesMasters/notesMaster1.xml" Id="Re65eff7f44e44e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README.md and docs/architecture.md. The visual is conceptual and contains no factual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docs/architecture.md. The high-level arrows show hybrid flow; LLVM-only mode bypasses the Rust pass.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docs/architecture.md, sections 4 and 5. The image is conceptual; the textual list defines actual pass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docs/architecture.md. Target register width is queried through LLVM TargetTransformInfo when the module has a triple; otherwise the planner uses 128 bits.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Project directories and languages; docs/advanced-cli-spec.md. Frontend availability and LLVM IR compatibility vary by installed compiler.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Build-aware and advanced project runs. Reductions, runtime pointer checks, and multi-block predication in hybrid/LLVM modes are LLVM transformations, not Rust-pass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docs/advanced-cli-spec.md. --fail-on-missed measures Rust-engine rejections only. Cache reuse is limited to inputs with accounted dependencies.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docs/benchmark-results.json (generated 2026-09-07) and scripts/differential_test.py quick run. Benchmark: seven kernels, Apple M5, LLVM 21.1.3, cache-hot measurements. Rust pass geometric mean 3.008593× and LLVM 2.973528× versus scalar. The speedup difference is small and not a general claim of superiority.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 and README.md. The future items are not implemented by the Rust pass. LLVM-backed modes may vectorize some of those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1901f6805649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fa65510ef46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4524bcf50f4a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3560c5a7443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30b1d4cf9e4a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e4ce3d37140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7D99BF-3FED-449C-A331-F584B59970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965B721-C1CE-4A3E-88B9-E03CB5F6EC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EAF4CE9-5AF4-4AD5-AB98-0BE69879E6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E8B926-E9C4-4D2A-96E5-BCB888BE00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244ED34-CCE3-49B1-8796-BCD969C7CA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E696B8-A484-4BB2-B383-24FBBF94FD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011C73-C0FB-4C24-909F-C1391CCE22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6DAD42C-B571-431D-9C6E-8FEDE13485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558021-3979-4DAF-81B0-A79F07F822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511800-C0F1-423B-A970-68380BD822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90ce5b5e4945b7" /><Relationship Type="http://schemas.openxmlformats.org/officeDocument/2006/relationships/slideLayout" Target="/ppt/slideLayouts/slideLayout1.xml" Id="R0a3e3e979c3647a0" /><Relationship Type="http://schemas.openxmlformats.org/officeDocument/2006/relationships/slideLayout" Target="/ppt/slideLayouts/slideLayout2.xml" Id="Re7f9a2a439bf4b3f" /><Relationship Type="http://schemas.openxmlformats.org/officeDocument/2006/relationships/slideLayout" Target="/ppt/slideLayouts/slideLayout3.xml" Id="R3a08674565e04ac1" /><Relationship Type="http://schemas.openxmlformats.org/officeDocument/2006/relationships/slideLayout" Target="/ppt/slideLayouts/slideLayout4.xml" Id="R7590ba2b22244029" /><Relationship Type="http://schemas.openxmlformats.org/officeDocument/2006/relationships/slideLayout" Target="/ppt/slideLayouts/slideLayout5.xml" Id="R7a77cccab68b4d49" /><Relationship Type="http://schemas.openxmlformats.org/officeDocument/2006/relationships/slideLayout" Target="/ppt/slideLayouts/slideLayout6.xml" Id="R29320ccb48074c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3e3e979c3647a0"/>
    <p:sldLayoutId xmlns:r="http://schemas.openxmlformats.org/officeDocument/2006/relationships" id="2147483650" r:id="Re7f9a2a439bf4b3f"/>
    <p:sldLayoutId xmlns:r="http://schemas.openxmlformats.org/officeDocument/2006/relationships" id="2147483651" r:id="R3a08674565e04ac1"/>
    <p:sldLayoutId xmlns:r="http://schemas.openxmlformats.org/officeDocument/2006/relationships" id="2147483652" r:id="R7590ba2b22244029"/>
    <p:sldLayoutId xmlns:r="http://schemas.openxmlformats.org/officeDocument/2006/relationships" id="2147483653" r:id="R7a77cccab68b4d49"/>
    <p:sldLayoutId xmlns:r="http://schemas.openxmlformats.org/officeDocument/2006/relationships" id="2147483654" r:id="R29320ccb48074c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ee8bb1861044e6" /><Relationship Type="http://schemas.openxmlformats.org/officeDocument/2006/relationships/image" Target="/ppt/media/image.png" Id="R46a61bf6c4eb4325" /><Relationship Type="http://schemas.openxmlformats.org/officeDocument/2006/relationships/notesSlide" Target="/ppt/notesSlides/notesSlide1.xml" Id="R59cc1b473e8b4a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9788fb95ce41b3" /><Relationship Type="http://schemas.openxmlformats.org/officeDocument/2006/relationships/image" Target="/ppt/media/image2.png" Id="R6f8f442c0fcc47f1" /><Relationship Type="http://schemas.openxmlformats.org/officeDocument/2006/relationships/notesSlide" Target="/ppt/notesSlides/notesSlide2.xml" Id="R4d8c5786166147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945dc6851449b4" /><Relationship Type="http://schemas.openxmlformats.org/officeDocument/2006/relationships/notesSlide" Target="/ppt/notesSlides/notesSlide3.xml" Id="R0ae375742c654a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c5c178d1a4385" /><Relationship Type="http://schemas.openxmlformats.org/officeDocument/2006/relationships/image" Target="/ppt/media/image3.png" Id="Rdea41c2d1d1a45f6" /><Relationship Type="http://schemas.openxmlformats.org/officeDocument/2006/relationships/notesSlide" Target="/ppt/notesSlides/notesSlide4.xml" Id="R8f84fa70d83445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bbfc1e5ed5406e" /><Relationship Type="http://schemas.openxmlformats.org/officeDocument/2006/relationships/notesSlide" Target="/ppt/notesSlides/notesSlide5.xml" Id="R60625b41f49d43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c90aaacea44040" /><Relationship Type="http://schemas.openxmlformats.org/officeDocument/2006/relationships/image" Target="/ppt/media/image4.png" Id="R7aae681117b1400a" /><Relationship Type="http://schemas.openxmlformats.org/officeDocument/2006/relationships/notesSlide" Target="/ppt/notesSlides/notesSlide6.xml" Id="Rebfdcaeeb23644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bc8c74923e4bd1" /><Relationship Type="http://schemas.openxmlformats.org/officeDocument/2006/relationships/notesSlide" Target="/ppt/notesSlides/notesSlide7.xml" Id="Rac4de96843214a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e37d0fca746a6" /><Relationship Type="http://schemas.openxmlformats.org/officeDocument/2006/relationships/notesSlide" Target="/ppt/notesSlides/notesSlide8.xml" Id="Rf1099c370b3845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c710b0d38b4a1a" /><Relationship Type="http://schemas.openxmlformats.org/officeDocument/2006/relationships/chart" Target="/ppt/slides/charts/chart1.xml" Id="R16711acad75945c1" /><Relationship Type="http://schemas.openxmlformats.org/officeDocument/2006/relationships/notesSlide" Target="/ppt/notesSlides/notesSlide9.xml" Id="R801e5efed4a34f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ca5451b3174dae" /><Relationship Type="http://schemas.openxmlformats.org/officeDocument/2006/relationships/notesSlide" Target="/ppt/notesSlides/notesSlide10.xml" Id="R8e667dada1954ed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Geometric mean speedup</c:v>
          </c:tx>
          <c:spPr>
            <a:solidFill xmlns:a="http://schemas.openxmlformats.org/drawingml/2006/main">
              <a:srgbClr val="4CD4C9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4CD4C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4E56D"/>
              </a:solidFill>
            </c:spPr>
          </c:dPt>
          <c:cat>
            <c:strLit>
              <c:ptCount val="2"/>
              <c:pt idx="0">
                <c:v>Rust pass</c:v>
              </c:pt>
              <c:pt idx="1">
                <c:v>LLVM Loop Vectorizer</c:v>
              </c:pt>
            </c:strLit>
          </c:cat>
          <c:val>
            <c:numLit>
              <c:formatCode>0.0</c:formatCode>
              <c:ptCount val="2"/>
              <c:pt idx="0">
                <c:v>3.009</c:v>
              </c:pt>
              <c:pt idx="1">
                <c:v>2.974</c:v>
              </c:pt>
            </c:numLit>
          </c:val>
        </c:ser>
        <c:dLbls>
          <c:numFmt formatCode="0.000&quot;×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5F8F8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B596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43505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D1DADD"/>
                    </a:solidFill>
                    <a:latin typeface="Arial"/>
                    <a:ea typeface="Arial"/>
                    <a:cs typeface="Arial"/>
                  </a:rPr>
                  <a:t>Speedup vs scalar (×)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D1DAD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4B596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24282E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24282E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C1B23-DF32-41ED-A750-35FCA3B6D6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61bf6c4eb432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BA0F0-14DB-4456-8C83-ACAEA8D5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52600"/>
            <a:ext cx="65246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Rust Loop Vectorizer</a:t>
            </a:r>
          </a:p>
          <a:p xmlns:a="http://schemas.openxmlformats.org/drawingml/2006/main">
            <a:pPr algn="l">
              <a:defRPr sz="4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for LLVM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0D484-9285-41C5-9510-0503999A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592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E8FB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E8FB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FBF8"/>
                </a:solidFill>
                <a:latin typeface="Arial"/>
                <a:ea typeface="Arial"/>
                <a:cs typeface="Arial"/>
              </a:rPr>
              <a:t>A correctness-first compiler pass and project vectorization CLI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F7B34-2C70-48B9-81D1-8B4762DE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714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6B0BF-AF1B-4463-A3F5-CBBA883E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604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Rust pass  ·  LLVM 21 plugin  ·  project-scale tooling</a:t>
            </a:r>
          </a:p>
        </p:txBody>
      </p:sp>
    </p:spTree>
    <p:extLst>
      <p:ext uri="{BB962C8B-B14F-4D97-AF65-F5344CB8AC3E}">
        <p14:creationId xmlns:p14="http://schemas.microsoft.com/office/powerpoint/2010/main" val="15432140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64B9D-5A2C-4A4A-8412-7FFF953B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Why loop vectorization is hard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7C3BA-E24A-4BE2-8EB7-609F9957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3274F-2A5B-43E4-87C8-C4B95639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0F2CE-0936-4DC1-A3E6-94CA3438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02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D5B8F-5009-4383-B76B-1AA52ECE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E83F0-DCD3-4152-9951-21739E4B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43100"/>
            <a:ext cx="5543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Scalar loops process one element at a time, even when a CPU can run several lanes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566A1-0D79-43EB-AE3D-43445E9E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39E3A-C5C1-4C1E-A50B-BA14D7F1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19425"/>
            <a:ext cx="5543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 compiler must prove that grouping iterations preserves control flow and memory behavior.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8D310-CBBB-4717-BC9D-5FBAE0CF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8143E-622B-46C2-A9C2-E318B2BB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5543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This project favors safe transformations and explains every rejection.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7530F-69EE-4534-BF87-1B617D6C3A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f442c0fcc47f1"/>
          <a:srcRect xmlns:a="http://schemas.openxmlformats.org/drawingml/2006/main" l="0" t="3854" r="0" b="38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4200" y="1533525"/>
            <a:ext cx="4572000" cy="42195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1B196-8C21-44A9-9E5F-F9FEE4E5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848350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Sequential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5E874-047D-4C40-A791-78C0EE39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84835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Parallel lanes</a:t>
            </a:r>
          </a:p>
        </p:txBody>
      </p:sp>
    </p:spTree>
    <p:extLst>
      <p:ext uri="{BB962C8B-B14F-4D97-AF65-F5344CB8AC3E}">
        <p14:creationId xmlns:p14="http://schemas.microsoft.com/office/powerpoint/2010/main" val="9584294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2E7F89-4C3E-4683-9195-A41D28A8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7C665-A9B0-4993-87F1-F2A55074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EDBFB-E98D-45B0-ADB1-9CFFBD73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E49AB-25E4-4DF0-86F6-E5831A36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03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0B853-68DF-4343-897B-C773061A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23FC6-EF88-4F0A-9465-E5FDA7FF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D5A09-6CB9-4354-8BE8-2E16ECB3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Source files, build metadata, .ll or .bc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83A48-C721-49FB-8270-6B255E6C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246AC-AF4E-4BE7-8F3F-AA5B37E7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LLVM module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C6993-3867-4024-80D7-36593D0C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 frontend emits IR when needed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75208-9E5C-4699-A8CB-4EE1B9E3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3AF5C-1B76-4A06-A060-7EEF0B41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Rust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4EA2E-A4E4-4BBE-BA16-86EE8F32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Discover, prove legal, plan, transform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0587D-E72F-4D5D-9978-5C692421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7490D-413A-45C3-91B9-CDAD00DA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LLVM 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D6A1B-9AA5-4D3F-B064-BC69CC0B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Optional in hybrid or LLVM mode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085615-792E-411C-A2E7-F3F9C62B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8B56A6-D347-4844-8599-D4FD600A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Verify + emit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19194A-DEC5-49ED-89C8-A46141EF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Checked .ll, .bc or .o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8093D9-39EF-476F-97B6-717D1FDD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194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091909-3DE4-42AE-8AAA-67BCCFA8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0194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40CF7E-FC21-4DF4-9D2B-EBF8FA28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194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1D15BB-35AE-4582-A5DF-71CAC663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0194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24EC2-FDEB-4DE3-A0CD-5FAAEE10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76775"/>
            <a:ext cx="10801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CD4110-408B-4B5E-A85B-92DE0769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The C++ bridge registers the plugin with LLVM’s New Pass Manager. The LLVM-only mode skips the Rust pass.</a:t>
            </a:r>
          </a:p>
        </p:txBody>
      </p:sp>
    </p:spTree>
    <p:extLst>
      <p:ext uri="{BB962C8B-B14F-4D97-AF65-F5344CB8AC3E}">
        <p14:creationId xmlns:p14="http://schemas.microsoft.com/office/powerpoint/2010/main" val="8807085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CEBB8-841C-4C90-99CD-8B564FCA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What the Rust pass vectorizes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530D8-B571-49AC-BD82-A5233626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DA673-FBA7-4486-A46B-B160767D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23EC9-0ED5-4A54-A828-BF42003E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04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7CFAF-425E-4748-9F0A-7A7EC5FA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A6CB7-F13A-49E4-B4C5-D998E3B8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24050"/>
            <a:ext cx="547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Canonical, single-block count-up loops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C09BD-853D-4B72-BEFA-28E3A3F2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B75BA-2CB7-4742-9EA8-27EBFE1D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09850"/>
            <a:ext cx="5476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Contiguous loads and stores of integers, half, float, and double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73B73-AB3D-49FD-BB43-BD0ADCDE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ED3A3-DC45-4B68-B1D8-153E6409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24250"/>
            <a:ext cx="5476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Arithmetic, shifts, casts, comparisons, and select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5AFB9-BF7E-4A53-A675-358E234C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91EC3-059A-4E89-A49A-8D2DD663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38650"/>
            <a:ext cx="5476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Vector factors 2, 4, 8, or 16 after legality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719A6-3E04-4BB1-AAF6-0C3D64CA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B3888-B16F-4344-B299-732AE972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53050"/>
            <a:ext cx="5476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Scalar fallback for short trips and remainder elements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F3942-418D-4606-B276-1A1F6D7C2F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41c2d1d1a45f6"/>
          <a:srcRect xmlns:a="http://schemas.openxmlformats.org/drawingml/2006/main" l="18233" t="0" r="182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19250"/>
            <a:ext cx="4838700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6504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5A2737-56D1-446C-9AB5-2732C5DB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Safety and vectorization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D2027-4F2B-485D-8684-75DC3152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19A15-A4EA-4B69-BECE-A130F6FB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62B0A-EDC4-4C7C-B4E1-5C984555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376DB-1B68-4CA5-BE4C-2DC9EA30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3336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A419D-0F29-4E8C-9BE3-0CBD8922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050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A7F4E-390D-47AC-AAAE-14D979D2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43200"/>
            <a:ext cx="1971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Find a canonical loop candidate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F6EE9-9552-4F33-9140-99CAAE69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14550"/>
            <a:ext cx="23336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D11CC-ACEF-4072-A6C9-D2991A4C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050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Prove legal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8E384-EE55-4FBE-9FD0-7329909F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43200"/>
            <a:ext cx="1971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Check dataflow, memory, aliasing and layout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90288-AAA7-4DA6-95CB-B560575D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23336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E3C70-B156-48A6-8885-C9643F5B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050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Estimate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C9C0D-724E-4CE7-BEFB-954D7D33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43200"/>
            <a:ext cx="1971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Select a profitable vector width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A232E-C681-4A87-B4C4-CED1D207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14550"/>
            <a:ext cx="23336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BE50D-7AD3-48D1-BE3D-6977BEFF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3050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Transform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9BF67-53C8-4715-AFD0-7BB1372F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1971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Emit vectors and keep scalar tail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1D07E8-6CE1-4908-A2D5-32ED64C0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09875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C23B8-2DC6-4C85-AA60-F62BC9AF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9875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2B97E6-E2AE-409F-B09E-64486E06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09875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A18D14-D4E8-433C-9E1E-E90B9522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74BA4A-4495-49FD-B6F8-ED61CEF8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Fail closed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9B9AC3-C586-4C87-8497-FC4F1F58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3475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Uncertain aliasing, unsupported instructions, or incompatible target layout cause rejection.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F85368-C6EC-4F3C-8EC8-29450FC3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673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Planning 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2941C0-5947-4AE1-AF90-2F5FC8BE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857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Conservative, balanced, and aggressive policies. Forced width never bypasses legality.</a:t>
            </a:r>
          </a:p>
        </p:txBody>
      </p:sp>
    </p:spTree>
    <p:extLst>
      <p:ext uri="{BB962C8B-B14F-4D97-AF65-F5344CB8AC3E}">
        <p14:creationId xmlns:p14="http://schemas.microsoft.com/office/powerpoint/2010/main" val="2448941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8BBAA-437B-43C1-9CDE-F4082C2A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Whole-project and language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466D7-0841-4EAE-8E21-2BDE8514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35616-872B-41D4-87A4-D8DECB1A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9F3D5-7EC0-4531-8715-218F8E2D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06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AFB09-012F-4505-AD3F-E5486891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F4883-4C59-4015-AECE-2FA8D844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24050"/>
            <a:ext cx="5495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Recursive folder traversal with mirrored output paths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57B46-37EA-443D-9A40-66B9B90E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7EB6C-87AF-4F24-8BF2-D68AE24C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95575"/>
            <a:ext cx="54959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Built-in adapters: C, C++, Objective-C, Objective-C++, Fortran, Rust, Swift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F2387-C4B9-4CA3-B8A7-28C94833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30361-3505-46EE-B2A3-7F444EC3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86175"/>
            <a:ext cx="54959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--compile-commands preserves C-family build flags and working directories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C5097-E5DC-40EE-A323-724DAF45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5FE57-3C85-40AC-8305-CB99C0BB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29150"/>
            <a:ext cx="5495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--input-manifest or --frontend-config integrates other LLVM frontends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43482-7344-4C7C-B7C3-6C354A68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435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Requires LLVM 21-compatible IR or bitcode.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3CE61-27D2-4F1B-BA21-4D7EF71102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e681117b1400a"/>
          <a:srcRect xmlns:a="http://schemas.openxmlformats.org/drawingml/2006/main" l="14276" t="0" r="142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504950"/>
            <a:ext cx="4838700" cy="45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1075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9A1B4D-1F59-444B-91FC-34CE63E6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Engines and output choices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16F6C-BA01-49B8-820C-20AA6D83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58BBB-5A3D-4AEF-BF86-4E9FCC2E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5E973-148B-4807-87B3-5EB33868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07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0BF35-09FF-44D8-8FB7-4C43E525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57400"/>
            <a:ext cx="333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Rust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46E78-6F7A-479F-836E-66E4ED7B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4625"/>
            <a:ext cx="333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066F0-3A3F-4F3E-9CEE-EE535B45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28950"/>
            <a:ext cx="33337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The project’s conservative pass. It reports its own loop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2381E-37D4-4EA3-A6FF-F50A0DC5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33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Hybrid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9D76D-8062-4C0A-B51A-0721D9CA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333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4D153-F589-4D01-B9CF-EFFD81BA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33337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Rust pass followed by LLVM’s Loop Vectorizer for broader LLVM-supported loops.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0C971-E871-4CEE-94EC-49D1A7E8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057400"/>
            <a:ext cx="323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LLVM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E836B-4F23-4246-B00D-794B87A1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14625"/>
            <a:ext cx="323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91E34-8F09-48FB-8BA1-A9AAC90D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028950"/>
            <a:ext cx="32385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LLVM’s Loop Vectorizer alone. The Rust pass does not run.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6B5E9-B452-4CD4-821E-C2C57BD2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67275"/>
            <a:ext cx="10801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20813-22B5-462C-887B-2AA24088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81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E3895-22A9-4D4A-B400-5BEEBFEF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43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.ll  readable 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CA01E-D064-460C-9892-9ABAED8E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143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.bc  bitcode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FCB938-7A99-4642-B652-94CE7E7A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435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.o  linkable object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2A0C99-8E86-417E-9C6D-BE21A7E4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531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Target triple, CPU, and feature flags configure planning and object emission.</a:t>
            </a:r>
          </a:p>
        </p:txBody>
      </p:sp>
    </p:spTree>
    <p:extLst>
      <p:ext uri="{BB962C8B-B14F-4D97-AF65-F5344CB8AC3E}">
        <p14:creationId xmlns:p14="http://schemas.microsoft.com/office/powerpoint/2010/main" val="15004096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09FB3D-A819-4D04-8818-248505B9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Developer workflow and large projects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FE764-5CE3-467D-9E0A-D635A04A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A35DF-0E00-4E45-9BDC-EE80310A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69829-68B2-447D-B821-2F32118C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08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D5E69-6B8E-4078-B658-7A55770E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Inspect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1B053-135E-4F0A-B174-2C021F9C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878A1-63CC-433D-9928-0958E0CE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90775"/>
            <a:ext cx="468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Text and JSON reports show file status and loop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B49C3-46F5-4FA6-9853-4495BADA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2F589-8CCA-4332-9868-C3973CAC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95650"/>
            <a:ext cx="468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--doctor checks tools, plugin loading, and optional frontends.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32812-A1C9-4B5C-981A-C20B256A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4616C-E692-4EF9-A9A5-F4BEF516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4686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The terminal UI exposes paths, policy, width, and a results pane.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F05E5-5D89-44E8-8ABC-80E9EC8A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93357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C8885-45ED-4781-B591-891A85D5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Run at 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B7199-66DF-4AEA-AC66-36790169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FEC03-D5A8-4BE3-B74F-34CCA84A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90775"/>
            <a:ext cx="4800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--jobs runs modules concurrently; --cache-dir reuses verified artifacts.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416451-E6A8-47D8-8384-0E3B824C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05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09085-9FAC-4760-8D07-C073618C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409950"/>
            <a:ext cx="4800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Time, memory, and input-size limits bound each job.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BCE8D3-30E9-45B6-85FE-837D4497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8D930E-B4F7-4CE6-A463-28BEF080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333875"/>
            <a:ext cx="4800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CI gates missed loops and compares baseline/candidate behavior.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330F63-3D39-4E9C-9627-50358B41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D1A2A-7B0D-4BF9-89AB-86058A7B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4E56D"/>
                </a:solidFill>
                <a:latin typeface="Arial"/>
                <a:ea typeface="Arial"/>
                <a:cs typeface="Arial"/>
              </a:rPr>
              <a:t>Atomic writes preserve earlier outputs when compilation or verification fails.</a:t>
            </a:r>
          </a:p>
        </p:txBody>
      </p:sp>
    </p:spTree>
    <p:extLst>
      <p:ext uri="{BB962C8B-B14F-4D97-AF65-F5344CB8AC3E}">
        <p14:creationId xmlns:p14="http://schemas.microsoft.com/office/powerpoint/2010/main" val="3760467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EB511-6D72-4780-BF69-D144BF90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Verification and measured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5B7BA-0769-4350-BE20-CC7A55E8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DA424-5925-42A2-840B-2623AC01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06653-7EE6-4977-A0C7-9446C9C5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FBCD9-1517-480C-8FD2-FA67F752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52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Local seven-kernel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5E36E-4BA8-4C16-B550-77AECDCD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71725"/>
            <a:ext cx="4552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All scalar, Rust-pass, and LLVM variants passed correctness.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E432D-9234-4782-8F17-B5748182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909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128 / 128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C0CBD-2509-43AB-93FE-16674070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52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cloned loops transformed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D71A3-CA8C-4A7C-8BDA-FF96ECA5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196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2.355 µs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A2527-F9A0-40D7-915E-25C88B86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95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median in-pass analysis + 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3B32A-7F6D-42B6-86E3-AF6F08A0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81675"/>
            <a:ext cx="485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Quick differential suite: 8,192 executions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201F7EF7-8E1A-4B6A-8AC6-332CC7C3A044}"/>
              </a:ext>
            </a:extLst>
          </p:cNvPr>
          <p:cNvGraphicFramePr/>
          <p:nvPr/>
        </p:nvGraphicFramePr>
        <p:xfrm>
          <a:off xmlns:a="http://schemas.openxmlformats.org/drawingml/2006/main" x="5572125" y="1828800"/>
          <a:ext xmlns:a="http://schemas.openxmlformats.org/drawingml/2006/main" cx="5924550" cy="3724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711acad75945c1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51355-7307-4D0E-8AF6-27A4BBFA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48325"/>
            <a:ext cx="586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Source: docs/benchmark-results.json. Apple M5, LLVM 21.1.3, seven cache-hot kernels. Local results, not application-wide speedups.</a:t>
            </a:r>
          </a:p>
        </p:txBody>
      </p:sp>
    </p:spTree>
    <p:extLst>
      <p:ext uri="{BB962C8B-B14F-4D97-AF65-F5344CB8AC3E}">
        <p14:creationId xmlns:p14="http://schemas.microsoft.com/office/powerpoint/2010/main" val="10585149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C35507-67E2-4EC7-A3A4-6573A3C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Scope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D0563-A9F8-43B7-A1A1-E2FE228D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2895C-30B2-405B-ADD3-2C2E6040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B8CD6-8F08-4188-966C-E8498009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785FE-7780-4062-9271-BA4577FE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81200"/>
            <a:ext cx="500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Rust pass 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7C2B0-4DCA-4EAE-9E1C-892DB31F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43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339BD-51AC-48DB-BE9F-0C7A3D38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47925"/>
            <a:ext cx="4733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Real fixed-width vector IR and explainable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98C31-8F32-433C-935D-2C3C9CBC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48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DC334-CA00-4C49-A358-97254AF1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733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 bounded single-block loop legality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CE917-4D19-4106-82F8-0209920E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14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9837F-ABB9-4809-B0D7-3088C440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4733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Unsupported loops stay scalar in Rust-only mode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F3407-D365-499D-94C9-F03E300D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240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4CB17-AFC1-455D-8258-4475F1B6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Future Rust-pass 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0AA99-02AC-4715-9513-DC5D6989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D891F-56FB-4A42-A8C3-22209AC3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447925"/>
            <a:ext cx="4733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Richer target throughput and register-pressure costing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6FB09B-096B-46B4-8BD3-741A6501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48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3DA71-FDA2-4C46-BEF5-6AA5F6AE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352800"/>
            <a:ext cx="47339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Scalable vectors, masked tails, and interleaving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2BE5A-5BAD-4687-B486-F66DE79B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14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BAF915-4564-49F0-A904-0220BF7F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219575"/>
            <a:ext cx="4733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Legality proofs for reductions and multi-block loops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1042E-CBB2-4CFD-9BD7-A9776500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81650"/>
            <a:ext cx="10810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94AF98-B9C0-431A-BD68-CC768475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9120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Hybrid mode delegates broader loop shapes to LLVM’s production vectorizer.</a:t>
            </a:r>
          </a:p>
        </p:txBody>
      </p:sp>
    </p:spTree>
    <p:extLst>
      <p:ext uri="{BB962C8B-B14F-4D97-AF65-F5344CB8AC3E}">
        <p14:creationId xmlns:p14="http://schemas.microsoft.com/office/powerpoint/2010/main" val="1685315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2026-10-14T11:17:31.9370000Z</dcterms:created>
  <dcterms:modified xsi:type="dcterms:W3CDTF">2026-10-14T11:17:31.9370000Z</dcterms:modified>
</coreProperties>
</file>