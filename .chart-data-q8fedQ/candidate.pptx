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0695d0f144758" /><Relationship Type="http://schemas.openxmlformats.org/officeDocument/2006/relationships/extended-properties" Target="/docProps/app.xml" Id="Rd8d12e72dd7a4dfe" /><Relationship Type="http://schemas.openxmlformats.org/officeDocument/2006/relationships/officeDocument" Target="/ppt/presentation.xml" Id="Rd4ddb70bca9e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9c665d0d14abd"/>
  </p:sldMasterIdLst>
  <p:notesMasterIdLst>
    <p:notesMasterId xmlns:r="http://schemas.openxmlformats.org/officeDocument/2006/relationships" r:id="R21c52898e4d54dfc"/>
  </p:notesMasterIdLst>
  <p:sldIdLst>
    <p:sldId xmlns:r="http://schemas.openxmlformats.org/officeDocument/2006/relationships" id="256" r:id="R3fcabafa96eb4e9c"/>
    <p:sldId xmlns:r="http://schemas.openxmlformats.org/officeDocument/2006/relationships" id="257" r:id="R9753648c060c4f33"/>
    <p:sldId xmlns:r="http://schemas.openxmlformats.org/officeDocument/2006/relationships" id="258" r:id="Rb34e9f6a004f472e"/>
    <p:sldId xmlns:r="http://schemas.openxmlformats.org/officeDocument/2006/relationships" id="259" r:id="Rfdfece47743d4b5f"/>
    <p:sldId xmlns:r="http://schemas.openxmlformats.org/officeDocument/2006/relationships" id="260" r:id="Rc9b009a8de084c4c"/>
    <p:sldId xmlns:r="http://schemas.openxmlformats.org/officeDocument/2006/relationships" id="261" r:id="Rb29ec5621dd74530"/>
    <p:sldId xmlns:r="http://schemas.openxmlformats.org/officeDocument/2006/relationships" id="262" r:id="Rda79c63b2cfa46e5"/>
    <p:sldId xmlns:r="http://schemas.openxmlformats.org/officeDocument/2006/relationships" id="263" r:id="R992e345c3e4a4bf4"/>
    <p:sldId xmlns:r="http://schemas.openxmlformats.org/officeDocument/2006/relationships" id="264" r:id="R263339ae6ec344c7"/>
    <p:sldId xmlns:r="http://schemas.openxmlformats.org/officeDocument/2006/relationships" id="265" r:id="R4f6b7d96bf0c47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db5fdc76446fc" /><Relationship Type="http://schemas.openxmlformats.org/officeDocument/2006/relationships/slideMaster" Target="/ppt/slideMasters/slideMaster1.xml" Id="R39c9c665d0d14abd" /><Relationship Type="http://schemas.openxmlformats.org/officeDocument/2006/relationships/notesMaster" Target="/ppt/notesMasters/notesMaster1.xml" Id="R21c52898e4d54dfc" /><Relationship Type="http://schemas.openxmlformats.org/officeDocument/2006/relationships/presProps" Target="/ppt/presProps.xml" Id="R09b06440b00f4a26" /><Relationship Type="http://schemas.openxmlformats.org/officeDocument/2006/relationships/tableStyles" Target="/ppt/tableStyles.xml" Id="R72fb28fafe364517" /><Relationship Type="http://schemas.openxmlformats.org/officeDocument/2006/relationships/slide" Target="/ppt/slides/slide1.xml" Id="R3fcabafa96eb4e9c" /><Relationship Type="http://schemas.openxmlformats.org/officeDocument/2006/relationships/slide" Target="/ppt/slides/slide2.xml" Id="R9753648c060c4f33" /><Relationship Type="http://schemas.openxmlformats.org/officeDocument/2006/relationships/slide" Target="/ppt/slides/slide3.xml" Id="Rb34e9f6a004f472e" /><Relationship Type="http://schemas.openxmlformats.org/officeDocument/2006/relationships/slide" Target="/ppt/slides/slide4.xml" Id="Rfdfece47743d4b5f" /><Relationship Type="http://schemas.openxmlformats.org/officeDocument/2006/relationships/slide" Target="/ppt/slides/slide5.xml" Id="Rc9b009a8de084c4c" /><Relationship Type="http://schemas.openxmlformats.org/officeDocument/2006/relationships/slide" Target="/ppt/slides/slide6.xml" Id="Rb29ec5621dd74530" /><Relationship Type="http://schemas.openxmlformats.org/officeDocument/2006/relationships/slide" Target="/ppt/slides/slide7.xml" Id="Rda79c63b2cfa46e5" /><Relationship Type="http://schemas.openxmlformats.org/officeDocument/2006/relationships/slide" Target="/ppt/slides/slide8.xml" Id="R992e345c3e4a4bf4" /><Relationship Type="http://schemas.openxmlformats.org/officeDocument/2006/relationships/slide" Target="/ppt/slides/slide9.xml" Id="R263339ae6ec344c7" /><Relationship Type="http://schemas.openxmlformats.org/officeDocument/2006/relationships/slide" Target="/ppt/slides/slide10.xml" Id="R4f6b7d96bf0c47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4bd6c60395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778204c9b46c8" /><Relationship Type="http://schemas.openxmlformats.org/officeDocument/2006/relationships/notesMaster" Target="/ppt/notesMasters/notesMaster1.xml" Id="Rfd81aadc2a2a40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05ae3a93641f0" /><Relationship Type="http://schemas.openxmlformats.org/officeDocument/2006/relationships/notesMaster" Target="/ppt/notesMasters/notesMaster1.xml" Id="R74753b8ad01f44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27a96efcd348ff" /><Relationship Type="http://schemas.openxmlformats.org/officeDocument/2006/relationships/notesMaster" Target="/ppt/notesMasters/notesMaster1.xml" Id="Rdf265726dafd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9f1f29b234bd3" /><Relationship Type="http://schemas.openxmlformats.org/officeDocument/2006/relationships/notesMaster" Target="/ppt/notesMasters/notesMaster1.xml" Id="R9ee0f6bf4ebb48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6acdb8fde04728" /><Relationship Type="http://schemas.openxmlformats.org/officeDocument/2006/relationships/notesMaster" Target="/ppt/notesMasters/notesMaster1.xml" Id="Rdb2e4382a8d9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617c93b4a34e4a" /><Relationship Type="http://schemas.openxmlformats.org/officeDocument/2006/relationships/notesMaster" Target="/ppt/notesMasters/notesMaster1.xml" Id="R7d54724ffa18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e960c95a044430" /><Relationship Type="http://schemas.openxmlformats.org/officeDocument/2006/relationships/notesMaster" Target="/ppt/notesMasters/notesMaster1.xml" Id="R260313a1bf60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8e41eb97c64630" /><Relationship Type="http://schemas.openxmlformats.org/officeDocument/2006/relationships/notesMaster" Target="/ppt/notesMasters/notesMaster1.xml" Id="R3f462a8fbea64d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ff7da63cc74276" /><Relationship Type="http://schemas.openxmlformats.org/officeDocument/2006/relationships/notesMaster" Target="/ppt/notesMasters/notesMaster1.xml" Id="R917ae3e7ab8447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9acbf53705470e" /><Relationship Type="http://schemas.openxmlformats.org/officeDocument/2006/relationships/notesMaster" Target="/ppt/notesMasters/notesMaster1.xml" Id="Rc79327f668bb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docs/architecture.md. The visual is conceptual and contains no factual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The high-level arrows show hybrid flow; LLVM-only mode bypasses the Rust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sections 4 and 5. The image is conceptual; the textual list defines actual pass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Target register width is queried through LLVM TargetTransformInfo when the module has a triple; otherwise the planner uses 128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Project directories and languages; docs/advanced-cli-spec.md. Frontend availability and LLVM IR compatibility vary by installed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Build-aware and advanced project runs. Reductions, runtime pointer checks, and multi-block predication in hybrid/LLVM modes are LLVM transformations, not Rust-pass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docs/advanced-cli-spec.md. --fail-on-missed measures Rust-engine rejections only. Cache reuse is limited to inputs with accounted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docs/benchmark-results.json (generated 2026-09-07) and scripts/differential_test.py quick run. Benchmark: seven kernels, Apple M5, LLVM 21.1.3, cache-hot measurements. Rust pass geometric mean 3.008593× and LLVM 2.973528× versus scalar. The speedup difference is small and not a general claim of superiority.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README.md. The future items are not implemented by the Rust pass. LLVM-backed modes may vectorize some of those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b03afaf4f4a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c70862f2f4e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db877601d48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4fcf18a6641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edc21497a49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a9f2fa5474d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7D438D-D3CC-453B-AD6E-DFB48B5A4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50E4F5-0E99-4543-A509-D1DBAA9AD2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F5FFDA-7415-4B43-8328-70DE86D1B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365BCF-C48A-4B52-9C95-93E4938CA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1DC61E-EAA4-4B9E-898C-5BD4011EB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24193B-E1FB-4538-B843-6AEA6C64C5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BE220C-519E-4112-AD95-9B82F06A72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EB8FBF-AAF8-4CD9-B1A7-FCC5A45C9F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1084DE-E2D3-4006-8810-27FCE7E87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182DA7-901D-4918-AAD0-188D0BEFC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39f3a2b7e74305" /><Relationship Type="http://schemas.openxmlformats.org/officeDocument/2006/relationships/slideLayout" Target="/ppt/slideLayouts/slideLayout1.xml" Id="Rb85e24e78f104f7e" /><Relationship Type="http://schemas.openxmlformats.org/officeDocument/2006/relationships/slideLayout" Target="/ppt/slideLayouts/slideLayout2.xml" Id="Rb6b8f615147c4505" /><Relationship Type="http://schemas.openxmlformats.org/officeDocument/2006/relationships/slideLayout" Target="/ppt/slideLayouts/slideLayout3.xml" Id="R15d2a24b1c48461a" /><Relationship Type="http://schemas.openxmlformats.org/officeDocument/2006/relationships/slideLayout" Target="/ppt/slideLayouts/slideLayout4.xml" Id="R5cdd317a182d4936" /><Relationship Type="http://schemas.openxmlformats.org/officeDocument/2006/relationships/slideLayout" Target="/ppt/slideLayouts/slideLayout5.xml" Id="R801e6edd388145ec" /><Relationship Type="http://schemas.openxmlformats.org/officeDocument/2006/relationships/slideLayout" Target="/ppt/slideLayouts/slideLayout6.xml" Id="Rca98394452074a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e24e78f104f7e"/>
    <p:sldLayoutId xmlns:r="http://schemas.openxmlformats.org/officeDocument/2006/relationships" id="2147483650" r:id="Rb6b8f615147c4505"/>
    <p:sldLayoutId xmlns:r="http://schemas.openxmlformats.org/officeDocument/2006/relationships" id="2147483651" r:id="R15d2a24b1c48461a"/>
    <p:sldLayoutId xmlns:r="http://schemas.openxmlformats.org/officeDocument/2006/relationships" id="2147483652" r:id="R5cdd317a182d4936"/>
    <p:sldLayoutId xmlns:r="http://schemas.openxmlformats.org/officeDocument/2006/relationships" id="2147483653" r:id="R801e6edd388145ec"/>
    <p:sldLayoutId xmlns:r="http://schemas.openxmlformats.org/officeDocument/2006/relationships" id="2147483654" r:id="Rca98394452074a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900a784f84a05" /><Relationship Type="http://schemas.openxmlformats.org/officeDocument/2006/relationships/image" Target="/ppt/media/image.png" Id="R8e7ceacfa871442b" /><Relationship Type="http://schemas.openxmlformats.org/officeDocument/2006/relationships/notesSlide" Target="/ppt/notesSlides/notesSlide1.xml" Id="Rce5287ccc850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a70d0c8614232" /><Relationship Type="http://schemas.openxmlformats.org/officeDocument/2006/relationships/image" Target="/ppt/media/image2.png" Id="R8f7743d343424e47" /><Relationship Type="http://schemas.openxmlformats.org/officeDocument/2006/relationships/notesSlide" Target="/ppt/notesSlides/notesSlide2.xml" Id="Re11090f39952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2ea58ef3c4035" /><Relationship Type="http://schemas.openxmlformats.org/officeDocument/2006/relationships/notesSlide" Target="/ppt/notesSlides/notesSlide3.xml" Id="Rfb8822c0820842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4979b9b4b4bb6" /><Relationship Type="http://schemas.openxmlformats.org/officeDocument/2006/relationships/image" Target="/ppt/media/image3.png" Id="Rb957047c933e4f84" /><Relationship Type="http://schemas.openxmlformats.org/officeDocument/2006/relationships/notesSlide" Target="/ppt/notesSlides/notesSlide4.xml" Id="R6bee8105242542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227df84c64b3e" /><Relationship Type="http://schemas.openxmlformats.org/officeDocument/2006/relationships/notesSlide" Target="/ppt/notesSlides/notesSlide5.xml" Id="R4ea271639c41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3942cd735466c" /><Relationship Type="http://schemas.openxmlformats.org/officeDocument/2006/relationships/image" Target="/ppt/media/image4.png" Id="Re6a4cb096fad40cf" /><Relationship Type="http://schemas.openxmlformats.org/officeDocument/2006/relationships/notesSlide" Target="/ppt/notesSlides/notesSlide6.xml" Id="R90fd035e5c4e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039d376944287" /><Relationship Type="http://schemas.openxmlformats.org/officeDocument/2006/relationships/notesSlide" Target="/ppt/notesSlides/notesSlide7.xml" Id="R42d59aef439d42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a9973f9604336" /><Relationship Type="http://schemas.openxmlformats.org/officeDocument/2006/relationships/notesSlide" Target="/ppt/notesSlides/notesSlide8.xml" Id="R38596e0172a84a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34f462c324917" /><Relationship Type="http://schemas.openxmlformats.org/officeDocument/2006/relationships/chart" Target="/ppt/slides/charts/chart1.xml" Id="R90c3537c33584f0c" /><Relationship Type="http://schemas.openxmlformats.org/officeDocument/2006/relationships/notesSlide" Target="/ppt/notesSlides/notesSlide9.xml" Id="Rf39d5aaa23874b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8c9576a644f91" /><Relationship Type="http://schemas.openxmlformats.org/officeDocument/2006/relationships/notesSlide" Target="/ppt/notesSlides/notesSlide10.xml" Id="Rc33ac937404640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Geometric mean speedup</c:v>
          </c:tx>
          <c:spPr>
            <a:solidFill xmlns:a="http://schemas.openxmlformats.org/drawingml/2006/main">
              <a:srgbClr val="4CD4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CD4C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4E56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Rust pass</c:v>
                </c:pt>
                <c:pt idx="1">
                  <c:v>LLVM Loop Vectorizer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3.009</c:v>
                </c:pt>
                <c:pt idx="1">
                  <c:v>2.974</c:v>
                </c:pt>
              </c:numCache>
            </c:numRef>
          </c:val>
        </c:ser>
        <c:dLbls>
          <c:numFmt formatCode="0.0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5F8F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D1DADD"/>
                    </a:solidFill>
                    <a:latin typeface="Arial"/>
                    <a:ea typeface="Arial"/>
                    <a:cs typeface="Arial"/>
                  </a:rPr>
                  <a:t>Speedup vs scalar (×)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D1DAD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24282E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24282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0BCBD-2869-4BF9-B6C5-F16A0850B7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ceacfa87144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6D02A-5352-4F9F-9958-08B1F16F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65246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Loop Vectorizer</a:t>
            </a:r>
          </a:p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for LLVM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24EC6-5CCC-4185-BFDD-3ECED6A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592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BF8"/>
                </a:solidFill>
                <a:latin typeface="Arial"/>
                <a:ea typeface="Arial"/>
                <a:cs typeface="Arial"/>
              </a:rPr>
              <a:t>A correctness-first compiler pass and project vectorization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0E35A-674C-499D-BDC7-0B04FC97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6A090-432C-47E7-9C2A-5B98594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 ·  LLVM 21 plugin  ·  project-scale tooling</a:t>
            </a:r>
          </a:p>
        </p:txBody>
      </p:sp>
    </p:spTree>
    <p:extLst>
      <p:ext uri="{BB962C8B-B14F-4D97-AF65-F5344CB8AC3E}">
        <p14:creationId xmlns:p14="http://schemas.microsoft.com/office/powerpoint/2010/main" val="4441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25B4B-8A7F-43E1-A397-CE7EFA1E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Why loop vectorization is hard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60F7B-A331-4F46-AF2D-7FA3E1AE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FD208-C17D-4668-8174-A92C47F1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D2C46-A78C-4D73-818E-5F30CB7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436CC-48B1-407E-93E2-81697884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D5F2-1749-44D7-BF42-0E6F18D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loops process one element at a time, even when a CPU can run several lanes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8EE27-CC67-4342-9CA9-C50DCB3F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F2378-1F67-48D5-9DF1-2519364D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compiler must prove that grouping iterations preserves control flow and memory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E4E81-D5A8-4083-9AD9-08807676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A4090-7603-4CC6-B533-86FEE1F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This project favors safe transformations and explains every rejection.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3E2E0-2982-4DCB-AF99-C3F7404E5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743d343424e47"/>
          <a:srcRect xmlns:a="http://schemas.openxmlformats.org/drawingml/2006/main" l="0" t="3854" r="0" b="3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533525"/>
            <a:ext cx="4572000" cy="4219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5FF19-5648-47F1-AA22-CFB45A4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483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Sequential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E6ECF-9CD0-40B9-9947-26B3C8B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483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Parallel lanes</a:t>
            </a:r>
          </a:p>
        </p:txBody>
      </p:sp>
    </p:spTree>
    <p:extLst>
      <p:ext uri="{BB962C8B-B14F-4D97-AF65-F5344CB8AC3E}">
        <p14:creationId xmlns:p14="http://schemas.microsoft.com/office/powerpoint/2010/main" val="1053117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9FF1F-F74D-4930-ADE1-A4BAAED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89978-9DA8-4F4E-B270-20EE8B7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87B3E-6D98-4367-8011-8A830B30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86C9B-27E2-403F-86E3-F434D79C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0971A-F23C-4281-9870-9765171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8813-815A-41DE-A045-45EEE061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C57B3-F8EA-4A37-9B68-48477960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Source files, build metadata, .ll or .bc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8D723-C982-4D4B-91C8-6C9D21F7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D8239-EBD3-4EA3-A23C-933C704C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C2967-5B41-41F4-8FAB-C5E2F28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frontend emits IR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A1838-0F32-4123-8A1D-C2435FF6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07923-1370-4AC4-9B17-ABCA97D0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EBA2A-48D3-46F1-B5CC-A703430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Discover, prove legal, plan,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0BA9A-F893-4951-BB51-A4C7A76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BBDC0-0916-4880-87F6-B6111A9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FB062-D343-4395-AB2A-80F835EE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Optional in hybrid or LLVM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6847D-4EB1-4142-A45A-CE66DEC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286FA-B0F8-4FF9-A779-8E34F052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Verify + emit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C17A0-A96A-4D5F-9877-B8DDD0A4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Checked .ll, .bc or .o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8515E-5B4C-4374-939B-79D646B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59957-9B8C-491A-81B4-95993B8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3BF6D-D25C-44A8-B3DE-584B85A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01A69-84F6-414E-9342-36979E17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2D920-EA98-41A7-9A49-AC1E8CA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AF7FA-3C9D-4B3F-99E2-99A809BC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C++ bridge registers the plugin with LLVM’s New Pass Manager. The LLVM-only mode skips the Rust pass.</a:t>
            </a:r>
          </a:p>
        </p:txBody>
      </p:sp>
    </p:spTree>
    <p:extLst>
      <p:ext uri="{BB962C8B-B14F-4D97-AF65-F5344CB8AC3E}">
        <p14:creationId xmlns:p14="http://schemas.microsoft.com/office/powerpoint/2010/main" val="1068553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FB9E9-8123-48A9-886D-33D3141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the Rust pass vectorizes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A831A-1078-452E-85CD-1607543C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BC887-0D3D-42FB-8061-0DBB4313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8DC6F-580A-4520-AE83-6BEFAEEA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BAB06-562E-42AF-9F09-0D4AF77F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6B36E-1C5E-4B01-80C9-368C5C5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Canonical, single-block count-up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67746-7B84-4CF1-968B-72194503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B67BD-CE87-40A9-8431-F4D8F4FA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Contiguous loads and stores of integers, half, float, and double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E7449-E092-4015-9BAE-242BCC70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93021-C97A-4A27-AF0F-EEFB20B9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Arithmetic, shifts, casts, comparisons, and select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CEBA1-1E86-424B-9608-1150ADE3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6CE13-5038-46B7-97BE-8C1B54F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Vector factors 2, 4, 8, or 16 after legality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65D97-FD01-4F65-89BE-79F288E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0A662-1A30-496F-9B83-186854D5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547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fallback for short trips and remainder elements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4FDB3-782D-4D55-A4E4-81F5E78E0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7047c933e4f84"/>
          <a:srcRect xmlns:a="http://schemas.openxmlformats.org/drawingml/2006/main" l="18233" t="0" r="18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19250"/>
            <a:ext cx="48387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45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F4D5D-7986-491A-98F8-48612AE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Safety and vectorization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2C66C-4A68-4167-8585-8145376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B87F4-2E99-4F52-B558-1EA03055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E6166-CA77-45CB-9DF3-C1878A1D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7B8F3-1D45-41E2-A10F-944A83C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AFFD7-5CDB-4AE6-A2CB-AB68740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4559A-1873-4062-A735-082F20B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Find a canonical loop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CE086-438F-4766-A36F-4A0598B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8B7F-B7B3-4DD2-B744-3752B9C8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Prove legal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4818B-788E-414F-A062-B4AC6D1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 dataflow, memory, aliasing and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EC665-F717-4397-AC1F-F91CA47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723FE-D4BF-426A-9731-5531FBC5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Estimate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C2AE8-AF6A-4292-9E8F-B1D4AEF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Select a profitable vector 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43339-16FE-4368-B588-F71EBF8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ED404-BA87-464C-891F-D1109AD3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13D03-E639-4965-BC15-9A73923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Emit vectors and keep scalar 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72A71-5AD1-4C8B-AC21-DAA145B3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C60BB-9EE8-4A28-8112-C73D1939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91411-10AF-45C4-B989-FD757E63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599E0-05FB-4AD0-AD04-2B32DD1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1039C-D66C-46B1-A8D5-24ABF2FC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38C05-B277-4FD0-911E-A13EF0D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Uncertain aliasing, unsupported instructions, or incompatible target layout cause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2F8F7-51C1-42ED-BE18-3065E073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Planning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A1850-68BE-46EB-8E2C-A12E5E7C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Conservative, balanced, and aggressive policies. Forced width never bypasses legality.</a:t>
            </a:r>
          </a:p>
        </p:txBody>
      </p:sp>
    </p:spTree>
    <p:extLst>
      <p:ext uri="{BB962C8B-B14F-4D97-AF65-F5344CB8AC3E}">
        <p14:creationId xmlns:p14="http://schemas.microsoft.com/office/powerpoint/2010/main" val="696116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CE6F1-6FA0-4667-8AFA-74EF5A36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Whole-project and language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E4270-21EE-4D74-8963-6C888E6E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3D28F-3D62-4D67-B832-CDA54D31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B230F-4EEE-4C38-80D9-2C3CC0E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AE2FA-C098-4D58-BA78-CB7956D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70767-CBEE-4541-BE8B-53A2C12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9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Recursive folder traversal with mirrored output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2B6E1-D5A3-4EFE-8C9B-ACEC2CCD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6BF50-92A0-4290-8691-4D4A4583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5495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Built-in adapters: C, C++, Objective-C, Objective-C++, Fortran, Rust, Swift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D7AE7-185E-437D-9A57-CB30CC96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ECB11-681E-4D65-A6B6-C418499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5495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--compile-commands preserves C-family build flags and working directories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FE2B6-A864-48C7-A6E2-4266E4D9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D5598-8046-4527-A720-24DBE70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29150"/>
            <a:ext cx="549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--input-manifest or --frontend-config integrates other LLVM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82B4D-5903-4DE4-BA0A-7389A70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Requires LLVM 21-compatible IR or bitcode.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04CDC-6F36-4128-8E99-BCEC89544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4cb096fad40cf"/>
          <a:srcRect xmlns:a="http://schemas.openxmlformats.org/drawingml/2006/main" l="14276" t="0" r="14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504950"/>
            <a:ext cx="48387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21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7EA44-2458-404D-8D4A-49F2272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Engines and output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E870-FD3C-4473-BE90-94BA5C11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120F0-7632-4783-A3DA-39F3159A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32D63-BEBB-4364-8899-87F1C190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81DDA-C66A-404B-8338-7A887038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2335D-4E2D-46C0-8578-3665FF9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C0233-AF4B-4AD2-8085-FDC2842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project’s conservative pass. It reports its own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47F06-DE11-4F00-BC37-49B49A61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69A0B-C490-415C-9306-D4FB8C78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CB15E-C684-4D56-AC99-F112A3D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followed by LLVM’s Loop Vectorizer for broader LLVM-supported loops.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8E6B9-9223-4582-A1D2-495A691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5740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LLVM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9B5C2-5E23-40C4-A58C-BED61AB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323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6069A-FCF2-47E3-BACD-244B773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LLVM’s Loop Vectorizer alone. The Rust pass does not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BFA33-9731-41EE-9903-E0E252B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672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AAF11-9A43-47A5-8508-EAD67AB3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20B65-22FA-4A22-AB72-BADC8BA8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.ll  readable 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00428-1283-49F4-A9A0-B9CC7F3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.bc  bitcode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D3BD8-7354-4100-81CF-F1978AF6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.o  linkable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D82BA-14F7-4BFF-B84B-9D16195F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Target triple, CPU, and feature flags configure planning and object emission.</a:t>
            </a:r>
          </a:p>
        </p:txBody>
      </p:sp>
    </p:spTree>
    <p:extLst>
      <p:ext uri="{BB962C8B-B14F-4D97-AF65-F5344CB8AC3E}">
        <p14:creationId xmlns:p14="http://schemas.microsoft.com/office/powerpoint/2010/main" val="849973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5F0EA-C52F-407B-A541-191D1449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Developer workflow and large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A5BAC-0D80-4AA9-B6F2-F5EA05C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D677A-2ED7-403D-A377-D2383E2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4C53F-9DF4-4922-8CC5-E738DC1F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3D770-5EBE-4F7C-9396-1C82E9EA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Inspect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935EB-774F-40AC-B0CA-214E77E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B1E98-3068-4772-A073-910140A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Text and JSON reports show file status and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9A3D6-2158-4F52-8CB2-8B48DAA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9390D-ED6D-4171-9ACA-CC3E3E43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--doctor checks tools, plugin loading, and optional frontends.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D62FC-703B-45DB-8317-242C1519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A4A40-C711-4B76-A273-60FAB06E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4686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terminal UI exposes paths, policy, width, and a results pane.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66B5D-CEDC-4958-BDF8-3EF8A44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335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A59B2-BE95-40D5-998D-FDF93408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Run at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85F36-9674-424B-8C98-A22C7AE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6735A-D378-44F7-A738-0132EEC3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90775"/>
            <a:ext cx="4800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--jobs runs modules concurrently; --cache-dir reuses verified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02570-796D-4B33-91A0-9F7DC4B7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D6EF5-17EC-4964-A5AA-A4F8C0E7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099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Time, memory, and input-size limits bound each job.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1A1AD-3829-4635-B7C8-28D0C08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0A8CD-0971-4A90-A57E-B634A863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CI gates missed loops and compares baseline/candidate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D8F31-7D90-4523-A819-9373AA80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4627B-0014-4F98-B1ED-47150B2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E56D"/>
                </a:solidFill>
                <a:latin typeface="Arial"/>
                <a:ea typeface="Arial"/>
                <a:cs typeface="Arial"/>
              </a:rPr>
              <a:t>Atomic writes preserve earlier outputs when compilation or verification fails.</a:t>
            </a:r>
          </a:p>
        </p:txBody>
      </p:sp>
    </p:spTree>
    <p:extLst>
      <p:ext uri="{BB962C8B-B14F-4D97-AF65-F5344CB8AC3E}">
        <p14:creationId xmlns:p14="http://schemas.microsoft.com/office/powerpoint/2010/main" val="2096120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64B11-4B7D-48B3-8FF9-D9DBF90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Verification and 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634E4-4FBF-4E3D-8F68-330FA81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9869E-D7E0-403B-A2D5-9B77525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1769E-E669-4756-99DC-928A7370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722E2-8055-492E-BC8B-FD58F57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Local seven-kernel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83BB-FDE2-4B0C-A5BA-AA1851B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All scalar, Rust-pass, and LLVM variants passed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D3D05-C154-4F3D-B6D1-4E0396D6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D7F31-F28D-43B7-ABA9-3914C85A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cloned loops transformed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CD734-B57E-4BE1-A8EC-2A8F5813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2.355 µs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1D092-7D08-41EA-851F-74D55ECA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median in-pass analysis + 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91FD1-83AA-4DA4-8C03-92A66007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Quick differential suite: 8,192 executions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2CCA1C2F-13F9-44FC-926C-204E77838FB7}"/>
              </a:ext>
            </a:extLst>
          </p:cNvPr>
          <p:cNvGraphicFramePr/>
          <p:nvPr/>
        </p:nvGraphicFramePr>
        <p:xfrm>
          <a:off xmlns:a="http://schemas.openxmlformats.org/drawingml/2006/main" x="5572125" y="1828800"/>
          <a:ext xmlns:a="http://schemas.openxmlformats.org/drawingml/2006/main" cx="592455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c3537c33584f0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0E0B0-DABB-4F22-B000-E62562E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48325"/>
            <a:ext cx="586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Source: docs/benchmark-results.json. Apple M5, LLVM 21.1.3, seven cache-hot kernels. Local results, not application-wide speedups.</a:t>
            </a:r>
          </a:p>
        </p:txBody>
      </p:sp>
    </p:spTree>
    <p:extLst>
      <p:ext uri="{BB962C8B-B14F-4D97-AF65-F5344CB8AC3E}">
        <p14:creationId xmlns:p14="http://schemas.microsoft.com/office/powerpoint/2010/main" val="1292325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A4085-A691-462C-A6C9-4F3A00D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313A8-8295-43FE-AF00-221A1ED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C08B8-445B-4138-9E82-D63116C5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721A8-B988-4129-B0EE-DCA4947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6D283-2616-45D3-AFA0-FE959C9B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 pass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ABE58-272D-487F-A2B6-7C9D239E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04558-28EE-4AF6-B72F-FE63FAB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Real fixed-width vector IR and explainable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7D530-D36F-4032-81B5-A9C469DA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0EE66-D7F6-46EB-AAAA-E4786BA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bounded single-block loop legality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A4129-EE2C-49D6-8B62-3D8783E1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7C0BB-1CA4-47CA-A96E-7A539FC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Unsupported loops stay scalar in Rust-only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97D8E-17AB-4873-B8AE-6BD27AED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CC879-6470-4F54-8B79-81A5F106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Future Rust-pass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5C5F0-FCF8-415E-9CBD-AB464F9B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B78F-C009-405C-B6E2-74250A83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47925"/>
            <a:ext cx="4733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Richer target throughput and register-pressure costing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A8F9C-AE30-474F-88B4-6C0FB268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1D8B2-5F18-4871-923A-95A0192E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52800"/>
            <a:ext cx="4733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Scalable vectors, masked tails, and interleaving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AB562-7AD6-4787-BD16-12D43E2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A1C13-B236-406C-B6E5-9820C094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9575"/>
            <a:ext cx="4733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Legality proofs for reductions and multi-block loops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A2955-A1FC-4851-BF9F-0102DBB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1081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E32CA-D059-419A-A48C-A0BC9F14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 mode delegates broader loop shapes to LLVM’s production vectorizer.</a:t>
            </a:r>
          </a:p>
        </p:txBody>
      </p:sp>
    </p:spTree>
    <p:extLst>
      <p:ext uri="{BB962C8B-B14F-4D97-AF65-F5344CB8AC3E}">
        <p14:creationId xmlns:p14="http://schemas.microsoft.com/office/powerpoint/2010/main" val="523781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2026-10-14T11:17:15.2400000Z</dcterms:created>
  <dcterms:modified xsi:type="dcterms:W3CDTF">2026-10-14T11:17:15.2400000Z</dcterms:modified>
</coreProperties>
</file>